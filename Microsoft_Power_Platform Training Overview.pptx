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56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037492" y="111061"/>
            <a:ext cx="5069016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rPr dirty="0"/>
              <a:t>Microsoft Power Platform Training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" y="804156"/>
            <a:ext cx="8796528" cy="526297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600" b="1">
                <a:solidFill>
                  <a:srgbClr val="0078D4"/>
                </a:solidFill>
              </a:defRPr>
            </a:pPr>
            <a:r>
              <a:rPr sz="1400" dirty="0"/>
              <a:t>🎯 Objective of </a:t>
            </a:r>
            <a:r>
              <a:rPr sz="1400"/>
              <a:t>the Training</a:t>
            </a:r>
            <a:endParaRPr lang="en-US" sz="1400" b="1" dirty="0">
              <a:solidFill>
                <a:srgbClr val="0078D4"/>
              </a:solidFill>
              <a:ea typeface="Calibri"/>
              <a:cs typeface="Calibri"/>
            </a:endParaRPr>
          </a:p>
          <a:p>
            <a:pPr lvl="1">
              <a:defRPr sz="1300">
                <a:solidFill>
                  <a:srgbClr val="323232"/>
                </a:solidFill>
              </a:defRPr>
            </a:pPr>
            <a:r>
              <a:rPr lang="en-US" sz="1400" dirty="0">
                <a:ea typeface="Calibri"/>
                <a:cs typeface="Segoe UI"/>
              </a:rPr>
              <a:t>This training is designed to enable Power Apps Developers and Makers to design, build, automate, and deploy </a:t>
            </a:r>
            <a:r>
              <a:rPr lang="en-US" sz="1400" b="1" dirty="0">
                <a:ea typeface="Calibri"/>
                <a:cs typeface="Segoe UI"/>
              </a:rPr>
              <a:t>enterprise-ready business solutions</a:t>
            </a:r>
            <a:r>
              <a:rPr lang="en-US" sz="1400" dirty="0">
                <a:ea typeface="Calibri"/>
                <a:cs typeface="Segoe UI"/>
              </a:rPr>
              <a:t> using </a:t>
            </a:r>
            <a:r>
              <a:rPr lang="en-US" sz="1400" b="1" dirty="0">
                <a:ea typeface="Calibri"/>
                <a:cs typeface="Segoe UI"/>
              </a:rPr>
              <a:t>Microsoft Power Platform</a:t>
            </a:r>
            <a:r>
              <a:rPr lang="en-US" sz="1400" dirty="0">
                <a:ea typeface="Calibri"/>
                <a:cs typeface="Segoe UI"/>
              </a:rPr>
              <a:t>.</a:t>
            </a:r>
            <a:endParaRPr lang="en-US" sz="1400" dirty="0">
              <a:cs typeface="Segoe UI"/>
            </a:endParaRPr>
          </a:p>
          <a:p>
            <a:pPr lvl="1">
              <a:defRPr sz="1300">
                <a:solidFill>
                  <a:srgbClr val="323232"/>
                </a:solidFill>
              </a:defRPr>
            </a:pPr>
            <a:endParaRPr lang="en-US" sz="1400" dirty="0">
              <a:ea typeface="Calibri"/>
              <a:cs typeface="Calibri"/>
            </a:endParaRPr>
          </a:p>
          <a:p>
            <a:pPr>
              <a:defRPr sz="1600" b="1">
                <a:solidFill>
                  <a:srgbClr val="0078D4"/>
                </a:solidFill>
              </a:defRPr>
            </a:pPr>
            <a:r>
              <a:rPr sz="1400" dirty="0"/>
              <a:t>⏱ Duration of the Training</a:t>
            </a:r>
            <a:r>
              <a:rPr lang="en-US" sz="1400" dirty="0"/>
              <a:t> ~ 16hrs</a:t>
            </a:r>
            <a:endParaRPr sz="1400" dirty="0"/>
          </a:p>
          <a:p>
            <a:pPr lvl="1">
              <a:defRPr sz="1300">
                <a:solidFill>
                  <a:srgbClr val="323232"/>
                </a:solidFill>
              </a:defRPr>
            </a:pPr>
            <a:r>
              <a:rPr sz="1400" dirty="0"/>
              <a:t> covering </a:t>
            </a:r>
            <a:r>
              <a:rPr lang="en-US" sz="1400" dirty="0"/>
              <a:t> Theoretical </a:t>
            </a:r>
            <a:r>
              <a:rPr sz="1400" dirty="0"/>
              <a:t>concepts, demonstrations, and hands-on labs.</a:t>
            </a:r>
            <a:endParaRPr lang="en-US" sz="1400" dirty="0"/>
          </a:p>
          <a:p>
            <a:pPr lvl="1">
              <a:defRPr sz="1300">
                <a:solidFill>
                  <a:srgbClr val="323232"/>
                </a:solidFill>
              </a:defRPr>
            </a:pPr>
            <a:endParaRPr sz="1400" dirty="0">
              <a:ea typeface="Calibri"/>
              <a:cs typeface="Calibri"/>
            </a:endParaRPr>
          </a:p>
          <a:p>
            <a:pPr>
              <a:defRPr sz="1600" b="1">
                <a:solidFill>
                  <a:srgbClr val="0078D4"/>
                </a:solidFill>
              </a:defRPr>
            </a:pPr>
            <a:r>
              <a:rPr sz="1400" dirty="0"/>
              <a:t>✅ Prerequisites</a:t>
            </a:r>
          </a:p>
          <a:p>
            <a:pPr lvl="1">
              <a:defRPr sz="1300">
                <a:solidFill>
                  <a:srgbClr val="323232"/>
                </a:solidFill>
              </a:defRPr>
            </a:pPr>
            <a:r>
              <a:rPr sz="1400" dirty="0"/>
              <a:t>• Knowledge: Basic understanding of business processes and data concepts</a:t>
            </a:r>
            <a:r>
              <a:rPr lang="en-US" sz="1400" dirty="0"/>
              <a:t>.</a:t>
            </a:r>
            <a:br>
              <a:rPr sz="1400" dirty="0"/>
            </a:br>
            <a:r>
              <a:rPr sz="1400" dirty="0"/>
              <a:t>• Access: </a:t>
            </a:r>
            <a:r>
              <a:rPr lang="en-US" sz="1400" dirty="0"/>
              <a:t>Capgemini(Default)  power platform environment or any </a:t>
            </a:r>
            <a:r>
              <a:rPr sz="1400" dirty="0"/>
              <a:t>Power Platform environment with Maker </a:t>
            </a:r>
            <a:r>
              <a:rPr lang="en-US" sz="1400" dirty="0"/>
              <a:t> </a:t>
            </a:r>
            <a:r>
              <a:rPr sz="1400" dirty="0"/>
              <a:t>permissions</a:t>
            </a:r>
            <a:r>
              <a:rPr lang="en-US" sz="1400" dirty="0"/>
              <a:t> </a:t>
            </a:r>
            <a:br>
              <a:rPr sz="1400" dirty="0"/>
            </a:br>
            <a:r>
              <a:rPr sz="1400" dirty="0"/>
              <a:t>• Software: Browser access, Microsoft 365 account</a:t>
            </a:r>
            <a:r>
              <a:rPr lang="en-US" sz="1400" dirty="0"/>
              <a:t>.</a:t>
            </a:r>
            <a:endParaRPr sz="1400" dirty="0">
              <a:ea typeface="Calibri"/>
              <a:cs typeface="Calibri"/>
            </a:endParaRPr>
          </a:p>
          <a:p>
            <a:pPr lvl="1">
              <a:defRPr sz="1600" b="1">
                <a:solidFill>
                  <a:srgbClr val="0078D4"/>
                </a:solidFill>
              </a:defRPr>
            </a:pPr>
            <a:endParaRPr lang="en-US" sz="1400" dirty="0">
              <a:solidFill>
                <a:srgbClr val="323232"/>
              </a:solidFill>
              <a:ea typeface="Calibri"/>
              <a:cs typeface="Calibri"/>
            </a:endParaRPr>
          </a:p>
          <a:p>
            <a:pPr>
              <a:defRPr sz="1600" b="1">
                <a:solidFill>
                  <a:srgbClr val="0078D4"/>
                </a:solidFill>
              </a:defRPr>
            </a:pPr>
            <a:r>
              <a:rPr sz="1400" dirty="0"/>
              <a:t>📘 Topics </a:t>
            </a:r>
            <a:r>
              <a:rPr lang="en-US" sz="1400" dirty="0"/>
              <a:t>Covered</a:t>
            </a:r>
            <a:endParaRPr lang="en-US" sz="1400" dirty="0">
              <a:ea typeface="Calibri"/>
              <a:cs typeface="Calibri"/>
            </a:endParaRPr>
          </a:p>
          <a:p>
            <a:pPr lvl="1">
              <a:defRPr sz="1300">
                <a:solidFill>
                  <a:srgbClr val="323232"/>
                </a:solidFill>
              </a:defRPr>
            </a:pPr>
            <a:r>
              <a:rPr sz="1400" dirty="0"/>
              <a:t>Power Platform overview, Dataverse, Canvas Apps, Model-Driven Apps, Power Automate, Advanced Automation, Governance &amp; ALM, Solution Deployment</a:t>
            </a:r>
            <a:r>
              <a:rPr lang="en-US" sz="1400" dirty="0"/>
              <a:t>.</a:t>
            </a:r>
            <a:endParaRPr sz="1400" dirty="0"/>
          </a:p>
          <a:p>
            <a:pPr lvl="1">
              <a:defRPr sz="1600" b="1">
                <a:solidFill>
                  <a:srgbClr val="0078D4"/>
                </a:solidFill>
              </a:defRPr>
            </a:pPr>
            <a:endParaRPr lang="en-US" sz="1400" dirty="0">
              <a:solidFill>
                <a:srgbClr val="323232"/>
              </a:solidFill>
            </a:endParaRPr>
          </a:p>
          <a:p>
            <a:pPr>
              <a:defRPr sz="1600" b="1">
                <a:solidFill>
                  <a:srgbClr val="0078D4"/>
                </a:solidFill>
              </a:defRPr>
            </a:pPr>
            <a:r>
              <a:rPr sz="1400" dirty="0"/>
              <a:t>🚀 Skills at the End of Training</a:t>
            </a:r>
          </a:p>
          <a:p>
            <a:pPr lvl="1">
              <a:defRPr sz="1300">
                <a:solidFill>
                  <a:srgbClr val="323232"/>
                </a:solidFill>
              </a:defRPr>
            </a:pPr>
            <a:r>
              <a:rPr lang="en-US" sz="1400" dirty="0"/>
              <a:t>At the end of this training, participants gain the knowledge and real time concepts on how to  Build</a:t>
            </a:r>
            <a:r>
              <a:rPr sz="1400" dirty="0"/>
              <a:t> </a:t>
            </a:r>
            <a:r>
              <a:rPr lang="en-US" sz="1400" dirty="0"/>
              <a:t> canvas apps</a:t>
            </a:r>
            <a:r>
              <a:rPr sz="1400" dirty="0"/>
              <a:t>, </a:t>
            </a:r>
            <a:r>
              <a:rPr lang="en-US" sz="1400" dirty="0"/>
              <a:t>and Model driven apps </a:t>
            </a:r>
            <a:r>
              <a:rPr sz="1400" dirty="0"/>
              <a:t>Dataverse data models, automate workflows, apply governance and ALM best practices, and deploy solutions across environments</a:t>
            </a:r>
            <a:endParaRPr lang="en-US" sz="1400" dirty="0"/>
          </a:p>
          <a:p>
            <a:pPr lvl="1">
              <a:defRPr sz="1300">
                <a:solidFill>
                  <a:srgbClr val="323232"/>
                </a:solidFill>
              </a:defRPr>
            </a:pPr>
            <a:endParaRPr lang="en-IN" sz="1400" dirty="0">
              <a:ea typeface="Calibri"/>
              <a:cs typeface="Calibri"/>
            </a:endParaRPr>
          </a:p>
          <a:p>
            <a:pPr lvl="1">
              <a:defRPr sz="1300">
                <a:solidFill>
                  <a:srgbClr val="323232"/>
                </a:solidFill>
              </a:defRPr>
            </a:pPr>
            <a:r>
              <a:rPr lang="en-IN" sz="1400" b="1" dirty="0">
                <a:solidFill>
                  <a:srgbClr val="0078D4"/>
                </a:solidFill>
              </a:rPr>
              <a:t>Note:  </a:t>
            </a:r>
            <a:r>
              <a:rPr lang="en-US" sz="1400" i="1" dirty="0">
                <a:ea typeface="Calibri"/>
                <a:cs typeface="Calibri"/>
              </a:rPr>
              <a:t>Participants may leverage the </a:t>
            </a:r>
            <a:r>
              <a:rPr lang="en-US" sz="1400" b="1" i="1" dirty="0">
                <a:ea typeface="Calibri"/>
                <a:cs typeface="Calibri"/>
              </a:rPr>
              <a:t>AI‑powered Power Platform Training Assistant chatbot </a:t>
            </a:r>
            <a:r>
              <a:rPr lang="en-US" sz="1400" i="1" dirty="0">
                <a:ea typeface="Calibri"/>
                <a:cs typeface="Calibri"/>
              </a:rPr>
              <a:t>for any training‑related queries during the learning journey before reaching out to mentors.</a:t>
            </a:r>
            <a:endParaRPr sz="1400" i="1" dirty="0">
              <a:ea typeface="Calibri"/>
              <a:cs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23232"/>
                </a:solidFill>
              </a:defRPr>
            </a:pPr>
            <a:r>
              <a:t>Microsoft Power Platform Training | Internal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4320" y="182880"/>
            <a:ext cx="8229600" cy="7315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Microsoft Power Platform – Learning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097280"/>
            <a:ext cx="2743200" cy="128016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🚀 Power Platform</a:t>
            </a:r>
          </a:p>
          <a:p>
            <a:pPr>
              <a:defRPr sz="1100">
                <a:solidFill>
                  <a:srgbClr val="F5F5F5"/>
                </a:solidFill>
              </a:defRPr>
            </a:pPr>
            <a:r>
              <a:t>Low‑code platform to build apps, automate workflows, analyze data, and create secure business solutions.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108960" y="1097280"/>
            <a:ext cx="2743200" cy="1280160"/>
          </a:xfrm>
          <a:prstGeom prst="round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🗄️ Dataverse</a:t>
            </a:r>
          </a:p>
          <a:p>
            <a:pPr>
              <a:defRPr sz="1100">
                <a:solidFill>
                  <a:srgbClr val="F5F5F5"/>
                </a:solidFill>
              </a:defRPr>
            </a:pPr>
            <a:r>
              <a:t>Secure data platform with tables, relationships, business rules, security roles, and integrations.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097280"/>
            <a:ext cx="2743200" cy="1280160"/>
          </a:xfrm>
          <a:prstGeom prst="roundRect">
            <a:avLst/>
          </a:prstGeom>
          <a:solidFill>
            <a:srgbClr val="009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🎨 Canvas Apps</a:t>
            </a:r>
          </a:p>
          <a:p>
            <a:pPr>
              <a:defRPr sz="1100">
                <a:solidFill>
                  <a:srgbClr val="F5F5F5"/>
                </a:solidFill>
              </a:defRPr>
            </a:pPr>
            <a:r>
              <a:t>UI‑driven apps using screens, controls, Power Fx, delegation handling, and responsive design.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2560320"/>
            <a:ext cx="2743200" cy="1280160"/>
          </a:xfrm>
          <a:prstGeom prst="roundRect">
            <a:avLst/>
          </a:prstGeom>
          <a:solidFill>
            <a:srgbClr val="620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📊 Model‑Driven Apps</a:t>
            </a:r>
          </a:p>
          <a:p>
            <a:pPr>
              <a:defRPr sz="1100">
                <a:solidFill>
                  <a:srgbClr val="F5F5F5"/>
                </a:solidFill>
              </a:defRPr>
            </a:pPr>
            <a:r>
              <a:t>Data‑first apps with forms, views, dashboards, BPFs, command bar customization, and site map.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08960" y="2560320"/>
            <a:ext cx="2743200" cy="128016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⚙️ Power Automate</a:t>
            </a:r>
          </a:p>
          <a:p>
            <a:pPr>
              <a:defRPr sz="1100">
                <a:solidFill>
                  <a:srgbClr val="F5F5F5"/>
                </a:solidFill>
              </a:defRPr>
            </a:pPr>
            <a:r>
              <a:t>Automated, instant, scheduled, and desktop flows using triggers, actions, approvals, and expressions.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2560320"/>
            <a:ext cx="2743200" cy="128016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🔁 Advanced Automation</a:t>
            </a:r>
          </a:p>
          <a:p>
            <a:pPr>
              <a:defRPr sz="1100">
                <a:solidFill>
                  <a:srgbClr val="F5F5F5"/>
                </a:solidFill>
              </a:defRPr>
            </a:pPr>
            <a:r>
              <a:t>Dataverse &amp; Azure triggers, HTTP &amp; JSON, error handling, retries, and external integrations.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4023360"/>
            <a:ext cx="3200400" cy="1280160"/>
          </a:xfrm>
          <a:prstGeom prst="round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🔐 Governance &amp; ALM</a:t>
            </a:r>
          </a:p>
          <a:p>
            <a:pPr>
              <a:defRPr sz="1100">
                <a:solidFill>
                  <a:srgbClr val="F5F5F5"/>
                </a:solidFill>
              </a:defRPr>
            </a:pPr>
            <a:r>
              <a:t>DLP policies, managed solutions, Dev–Test–Prod strategy, monitoring, and CoE Starter Kit.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4023360"/>
            <a:ext cx="3200400" cy="128016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📦 Solution Deployment</a:t>
            </a:r>
          </a:p>
          <a:p>
            <a:pPr>
              <a:defRPr sz="1100">
                <a:solidFill>
                  <a:srgbClr val="F5F5F5"/>
                </a:solidFill>
              </a:defRPr>
            </a:pPr>
            <a:r>
              <a:t>Solution packaging, versioning, and automated deployment across environments.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e760c494-6550-44b4-8258-77c175d778b7}" enabled="1" method="Privileged" siteId="{76a2ae5a-9f00-4f6b-95ed-5d33d77c4d6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393</Words>
  <Application>Microsoft Office PowerPoint</Application>
  <PresentationFormat>On-screen Show (4:3)</PresentationFormat>
  <Paragraphs>35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Segoe UI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POTTURU, RAVISANKAR</dc:creator>
  <cp:keywords/>
  <dc:description>generated using python-pptx</dc:description>
  <cp:lastModifiedBy>POTTURU, RAVISANKAR</cp:lastModifiedBy>
  <cp:revision>10</cp:revision>
  <dcterms:created xsi:type="dcterms:W3CDTF">2026-05-07T06:47:23Z</dcterms:created>
  <dcterms:modified xsi:type="dcterms:W3CDTF">2026-05-08T06:30:56Z</dcterms:modified>
  <cp:category/>
</cp:coreProperties>
</file>