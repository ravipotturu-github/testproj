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72" r:id="rId5"/>
    <p:sldId id="273" r:id="rId6"/>
    <p:sldId id="260" r:id="rId7"/>
    <p:sldId id="261" r:id="rId8"/>
    <p:sldId id="262" r:id="rId9"/>
    <p:sldId id="263" r:id="rId10"/>
    <p:sldId id="264" r:id="rId11"/>
    <p:sldId id="265" r:id="rId12"/>
    <p:sldId id="266" r:id="rId13"/>
    <p:sldId id="267" r:id="rId14"/>
    <p:sldId id="284" r:id="rId15"/>
    <p:sldId id="285" r:id="rId16"/>
    <p:sldId id="286" r:id="rId17"/>
    <p:sldId id="282" r:id="rId18"/>
    <p:sldId id="283" r:id="rId19"/>
    <p:sldId id="278" r:id="rId20"/>
    <p:sldId id="275" r:id="rId21"/>
    <p:sldId id="279" r:id="rId22"/>
    <p:sldId id="281" r:id="rId23"/>
    <p:sldId id="280" r:id="rId24"/>
    <p:sldId id="276" r:id="rId25"/>
    <p:sldId id="277" r:id="rId26"/>
    <p:sldId id="269" r:id="rId27"/>
    <p:sldId id="270"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A38DC1-E09D-DD9D-F72F-D0F895D8F5B9}" v="24" dt="2026-03-23T08:58:24.1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learn.microsoft.com/en-us/power-apps/maker/canvas-apps/working-with-variable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docs.microsoft.com/en-us/power-platform/power-fx/reference/function-with"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Introduction to Microsoft Power Platform</a:t>
            </a:r>
          </a:p>
        </p:txBody>
      </p:sp>
      <p:sp>
        <p:nvSpPr>
          <p:cNvPr id="3" name="Content Placeholder 2"/>
          <p:cNvSpPr>
            <a:spLocks noGrp="1"/>
          </p:cNvSpPr>
          <p:nvPr>
            <p:ph idx="1"/>
          </p:nvPr>
        </p:nvSpPr>
        <p:spPr>
          <a:xfrm>
            <a:off x="457200" y="1407017"/>
            <a:ext cx="8229600" cy="4525963"/>
          </a:xfrm>
        </p:spPr>
        <p:txBody>
          <a:bodyPr vert="horz" lIns="91440" tIns="45720" rIns="91440" bIns="45720" rtlCol="0" anchor="t">
            <a:normAutofit/>
          </a:bodyPr>
          <a:lstStyle/>
          <a:p>
            <a:r>
              <a:t>A low-code</a:t>
            </a:r>
            <a:r>
              <a:rPr lang="en-US"/>
              <a:t> &amp; Pro </a:t>
            </a:r>
            <a:r>
              <a:t> platform enabling users to build apps, automate processes, analyze data, and create websites with minimal coding.</a:t>
            </a:r>
          </a:p>
        </p:txBody>
      </p:sp>
      <p:pic>
        <p:nvPicPr>
          <p:cNvPr id="1026" name="Picture 2" descr="Screenshot shows the Power Platform services.">
            <a:extLst>
              <a:ext uri="{FF2B5EF4-FFF2-40B4-BE49-F238E27FC236}">
                <a16:creationId xmlns:a16="http://schemas.microsoft.com/office/drawing/2014/main" id="{063ED58F-8592-821B-AFD4-27D660337C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54680"/>
            <a:ext cx="9144000" cy="37033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Components Overview</a:t>
            </a:r>
          </a:p>
        </p:txBody>
      </p:sp>
      <p:sp>
        <p:nvSpPr>
          <p:cNvPr id="3" name="Content Placeholder 2"/>
          <p:cNvSpPr>
            <a:spLocks noGrp="1"/>
          </p:cNvSpPr>
          <p:nvPr>
            <p:ph idx="1"/>
          </p:nvPr>
        </p:nvSpPr>
        <p:spPr/>
        <p:txBody>
          <a:bodyPr/>
          <a:lstStyle/>
          <a:p>
            <a:r>
              <a:t>Power Apps – Build custom business apps.</a:t>
            </a:r>
          </a:p>
          <a:p>
            <a:r>
              <a:t>Power Automate – Automate workflows.</a:t>
            </a:r>
          </a:p>
          <a:p>
            <a:r>
              <a:t>Power BI – Visualize data.</a:t>
            </a:r>
          </a:p>
          <a:p>
            <a:r>
              <a:t>Power Pages – Create websites</a:t>
            </a:r>
            <a:r>
              <a:rPr lang="en-US"/>
              <a:t> for external users </a:t>
            </a:r>
            <a:r>
              <a:t>.</a:t>
            </a:r>
            <a:endParaRPr lang="en-US"/>
          </a:p>
          <a:p>
            <a:r>
              <a:rPr lang="en-IN"/>
              <a:t>Power Virtual Agents-</a:t>
            </a:r>
            <a:r>
              <a:rPr lang="en-US"/>
              <a:t>AI Powered intelligent Chatbots &amp; Agents</a:t>
            </a:r>
            <a:endParaRPr/>
          </a:p>
          <a:p>
            <a:r>
              <a:t>Dataverse – Secure enterprise data storage.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Power Apps </a:t>
            </a:r>
            <a:r>
              <a:rPr lang="en-US"/>
              <a:t>Types</a:t>
            </a:r>
            <a:endParaRPr/>
          </a:p>
        </p:txBody>
      </p:sp>
      <p:sp>
        <p:nvSpPr>
          <p:cNvPr id="3" name="Content Placeholder 2"/>
          <p:cNvSpPr>
            <a:spLocks noGrp="1"/>
          </p:cNvSpPr>
          <p:nvPr>
            <p:ph idx="1"/>
          </p:nvPr>
        </p:nvSpPr>
        <p:spPr/>
        <p:txBody>
          <a:bodyPr/>
          <a:lstStyle/>
          <a:p>
            <a:r>
              <a:t>Canvas Apps: full design freedom.</a:t>
            </a:r>
          </a:p>
          <a:p>
            <a:r>
              <a:t>Model-driven Apps: based on data structure. Examples: Leave request app, ticket management app.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7BF9B-C6B0-B15F-9E64-DAA5453D1CA9}"/>
              </a:ext>
            </a:extLst>
          </p:cNvPr>
          <p:cNvSpPr>
            <a:spLocks noGrp="1"/>
          </p:cNvSpPr>
          <p:nvPr>
            <p:ph type="title"/>
          </p:nvPr>
        </p:nvSpPr>
        <p:spPr/>
        <p:txBody>
          <a:bodyPr>
            <a:normAutofit fontScale="90000"/>
          </a:bodyPr>
          <a:lstStyle/>
          <a:p>
            <a:r>
              <a:rPr lang="en-US">
                <a:ea typeface="Calibri"/>
                <a:cs typeface="Calibri"/>
              </a:rPr>
              <a:t>No code Vs Low code Vs Vibe Vs Pro</a:t>
            </a:r>
            <a:endParaRPr lang="en-US"/>
          </a:p>
        </p:txBody>
      </p:sp>
      <p:sp>
        <p:nvSpPr>
          <p:cNvPr id="3" name="Content Placeholder 2">
            <a:extLst>
              <a:ext uri="{FF2B5EF4-FFF2-40B4-BE49-F238E27FC236}">
                <a16:creationId xmlns:a16="http://schemas.microsoft.com/office/drawing/2014/main" id="{64EEB9EE-14C9-2D59-EBE2-D7FA98026FFF}"/>
              </a:ext>
            </a:extLst>
          </p:cNvPr>
          <p:cNvSpPr>
            <a:spLocks noGrp="1"/>
          </p:cNvSpPr>
          <p:nvPr>
            <p:ph idx="1"/>
          </p:nvPr>
        </p:nvSpPr>
        <p:spPr/>
        <p:txBody>
          <a:bodyPr vert="horz" lIns="91440" tIns="45720" rIns="91440" bIns="45720" rtlCol="0" anchor="t">
            <a:normAutofit fontScale="70000" lnSpcReduction="20000"/>
          </a:bodyPr>
          <a:lstStyle/>
          <a:p>
            <a:r>
              <a:rPr lang="en-US" b="1"/>
              <a:t>No‑Code</a:t>
            </a:r>
            <a:endParaRPr lang="en-US">
              <a:ea typeface="Calibri"/>
              <a:cs typeface="Calibri"/>
            </a:endParaRPr>
          </a:p>
          <a:p>
            <a:r>
              <a:rPr lang="en-US" sz="1100" b="1">
                <a:latin typeface="Segoe UI"/>
                <a:cs typeface="Segoe UI"/>
              </a:rPr>
              <a:t>Microsoft 365 App Builder</a:t>
            </a:r>
            <a:endParaRPr lang="en-US"/>
          </a:p>
          <a:p>
            <a:r>
              <a:rPr lang="en-US" sz="1100">
                <a:latin typeface="Segoe UI"/>
                <a:cs typeface="Segoe UI"/>
              </a:rPr>
              <a:t>Build apps using </a:t>
            </a:r>
            <a:r>
              <a:rPr lang="en-US" sz="1100" b="1">
                <a:latin typeface="Segoe UI"/>
                <a:cs typeface="Segoe UI"/>
              </a:rPr>
              <a:t>natural language prompts</a:t>
            </a:r>
            <a:endParaRPr lang="en-US"/>
          </a:p>
          <a:p>
            <a:r>
              <a:rPr lang="en-US" sz="1100">
                <a:latin typeface="Segoe UI"/>
                <a:cs typeface="Segoe UI"/>
              </a:rPr>
              <a:t>Automatically generates </a:t>
            </a:r>
            <a:r>
              <a:rPr lang="en-US" sz="1100" b="1">
                <a:latin typeface="Segoe UI"/>
                <a:cs typeface="Segoe UI"/>
              </a:rPr>
              <a:t>data tables, screens, and forms</a:t>
            </a:r>
            <a:endParaRPr lang="en-US"/>
          </a:p>
          <a:p>
            <a:r>
              <a:rPr lang="en-US" sz="1100">
                <a:latin typeface="Segoe UI"/>
                <a:cs typeface="Segoe UI"/>
              </a:rPr>
              <a:t>Ideal for </a:t>
            </a:r>
            <a:r>
              <a:rPr lang="en-US" sz="1100" b="1">
                <a:latin typeface="Segoe UI"/>
                <a:cs typeface="Segoe UI"/>
              </a:rPr>
              <a:t>business users</a:t>
            </a:r>
            <a:r>
              <a:rPr lang="en-US" sz="1100">
                <a:latin typeface="Segoe UI"/>
                <a:cs typeface="Segoe UI"/>
              </a:rPr>
              <a:t> and rapid prototyping</a:t>
            </a:r>
            <a:endParaRPr lang="en-US"/>
          </a:p>
          <a:p>
            <a:pPr marL="0" indent="0">
              <a:buNone/>
            </a:pPr>
            <a:endParaRPr lang="en-US">
              <a:ea typeface="Calibri"/>
              <a:cs typeface="Calibri"/>
            </a:endParaRPr>
          </a:p>
          <a:p>
            <a:pPr marL="0" indent="0">
              <a:buNone/>
            </a:pPr>
            <a:endParaRPr lang="en-US">
              <a:ea typeface="Calibri"/>
              <a:cs typeface="Calibri"/>
            </a:endParaRPr>
          </a:p>
          <a:p>
            <a:pPr marL="0" indent="0">
              <a:buNone/>
            </a:pPr>
            <a:endParaRPr lang="en-US">
              <a:ea typeface="Calibri"/>
              <a:cs typeface="Calibri"/>
            </a:endParaRPr>
          </a:p>
          <a:p>
            <a:pPr marL="0" indent="0">
              <a:buNone/>
            </a:pPr>
            <a:endParaRPr lang="en-US">
              <a:ea typeface="Calibri"/>
              <a:cs typeface="Calibri"/>
            </a:endParaRPr>
          </a:p>
          <a:p>
            <a:pPr marL="0" indent="0">
              <a:buNone/>
            </a:pPr>
            <a:endParaRPr lang="en-US">
              <a:ea typeface="Calibri"/>
              <a:cs typeface="Calibri"/>
            </a:endParaRPr>
          </a:p>
          <a:p>
            <a:pPr marL="0" indent="0">
              <a:buNone/>
            </a:pPr>
            <a:endParaRPr lang="en-US">
              <a:ea typeface="Calibri"/>
              <a:cs typeface="Calibri"/>
            </a:endParaRPr>
          </a:p>
          <a:p>
            <a:pPr marL="0" indent="0">
              <a:buNone/>
            </a:pPr>
            <a:endParaRPr lang="en-US">
              <a:ea typeface="Calibri"/>
              <a:cs typeface="Calibri"/>
            </a:endParaRPr>
          </a:p>
          <a:p>
            <a:pPr marL="0" indent="0">
              <a:buNone/>
            </a:pPr>
            <a:endParaRPr lang="en-US">
              <a:ea typeface="Calibri"/>
              <a:cs typeface="Calibri"/>
            </a:endParaRPr>
          </a:p>
          <a:p>
            <a:pPr marL="0" indent="0">
              <a:buNone/>
            </a:pPr>
            <a:r>
              <a:rPr lang="en-US"/>
              <a:t> </a:t>
            </a:r>
            <a:r>
              <a:rPr lang="en-US" b="1"/>
              <a:t>Low‑Code</a:t>
            </a:r>
            <a:endParaRPr lang="en-US"/>
          </a:p>
          <a:p>
            <a:r>
              <a:rPr lang="en-US" sz="1100" b="1">
                <a:latin typeface="Segoe UI"/>
                <a:cs typeface="Segoe UI"/>
              </a:rPr>
              <a:t>Canvas Apps &amp; Model‑Driven Apps</a:t>
            </a:r>
            <a:endParaRPr lang="en-US"/>
          </a:p>
          <a:p>
            <a:r>
              <a:rPr lang="en-US" sz="1100">
                <a:latin typeface="Segoe UI"/>
                <a:cs typeface="Segoe UI"/>
              </a:rPr>
              <a:t>Canvas Apps: Full </a:t>
            </a:r>
            <a:r>
              <a:rPr lang="en-US" sz="1100" b="1">
                <a:latin typeface="Segoe UI"/>
                <a:cs typeface="Segoe UI"/>
              </a:rPr>
              <a:t>visual design control</a:t>
            </a:r>
            <a:r>
              <a:rPr lang="en-US" sz="1100">
                <a:latin typeface="Segoe UI"/>
                <a:cs typeface="Segoe UI"/>
              </a:rPr>
              <a:t> with drag‑and‑drop UI</a:t>
            </a:r>
            <a:endParaRPr lang="en-US"/>
          </a:p>
          <a:p>
            <a:r>
              <a:rPr lang="en-US" sz="1100">
                <a:latin typeface="Segoe UI"/>
                <a:cs typeface="Segoe UI"/>
              </a:rPr>
              <a:t>Model-Driven Apps: </a:t>
            </a:r>
            <a:r>
              <a:rPr lang="en-US" sz="1100" b="1">
                <a:latin typeface="Segoe UI"/>
                <a:cs typeface="Segoe UI"/>
              </a:rPr>
              <a:t>Data model–driven</a:t>
            </a:r>
            <a:r>
              <a:rPr lang="en-US" sz="1100">
                <a:latin typeface="Segoe UI"/>
                <a:cs typeface="Segoe UI"/>
              </a:rPr>
              <a:t> apps built on Dataverse</a:t>
            </a:r>
            <a:endParaRPr lang="en-US"/>
          </a:p>
          <a:p>
            <a:r>
              <a:rPr lang="en-US" sz="1100">
                <a:latin typeface="Segoe UI"/>
                <a:cs typeface="Segoe UI"/>
              </a:rPr>
              <a:t>Ideal for </a:t>
            </a:r>
            <a:r>
              <a:rPr lang="en-US" sz="1100" b="1">
                <a:latin typeface="Segoe UI"/>
                <a:cs typeface="Segoe UI"/>
              </a:rPr>
              <a:t>makers</a:t>
            </a:r>
            <a:r>
              <a:rPr lang="en-US" sz="1100">
                <a:latin typeface="Segoe UI"/>
                <a:cs typeface="Segoe UI"/>
              </a:rPr>
              <a:t> building business workflows and forms</a:t>
            </a:r>
            <a:endParaRPr lang="en-US"/>
          </a:p>
          <a:p>
            <a:endParaRPr lang="en-US">
              <a:ea typeface="Calibri"/>
              <a:cs typeface="Calibri"/>
            </a:endParaRPr>
          </a:p>
        </p:txBody>
      </p:sp>
      <p:pic>
        <p:nvPicPr>
          <p:cNvPr id="7" name="Picture 6">
            <a:extLst>
              <a:ext uri="{FF2B5EF4-FFF2-40B4-BE49-F238E27FC236}">
                <a16:creationId xmlns:a16="http://schemas.microsoft.com/office/drawing/2014/main" id="{8554F3E4-1048-3710-B514-8151CA56FFB1}"/>
              </a:ext>
            </a:extLst>
          </p:cNvPr>
          <p:cNvPicPr>
            <a:picLocks noChangeAspect="1"/>
          </p:cNvPicPr>
          <p:nvPr/>
        </p:nvPicPr>
        <p:blipFill>
          <a:blip r:embed="rId2"/>
          <a:stretch>
            <a:fillRect/>
          </a:stretch>
        </p:blipFill>
        <p:spPr>
          <a:xfrm>
            <a:off x="523567" y="2487167"/>
            <a:ext cx="7036162" cy="2113511"/>
          </a:xfrm>
          <a:prstGeom prst="rect">
            <a:avLst/>
          </a:prstGeom>
        </p:spPr>
      </p:pic>
    </p:spTree>
    <p:extLst>
      <p:ext uri="{BB962C8B-B14F-4D97-AF65-F5344CB8AC3E}">
        <p14:creationId xmlns:p14="http://schemas.microsoft.com/office/powerpoint/2010/main" val="723732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8628A-0830-1069-8278-B9D7F946D4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533F0F6-A1C9-4571-BBEE-067904C4DE3F}"/>
              </a:ext>
            </a:extLst>
          </p:cNvPr>
          <p:cNvSpPr>
            <a:spLocks noGrp="1"/>
          </p:cNvSpPr>
          <p:nvPr>
            <p:ph idx="1"/>
          </p:nvPr>
        </p:nvSpPr>
        <p:spPr/>
        <p:txBody>
          <a:bodyPr vert="horz" lIns="91440" tIns="45720" rIns="91440" bIns="45720" rtlCol="0" anchor="t">
            <a:normAutofit/>
          </a:bodyPr>
          <a:lstStyle/>
          <a:p>
            <a:r>
              <a:rPr lang="en-US" b="1"/>
              <a:t>Vibe Code (AI-Assisted Development)</a:t>
            </a:r>
            <a:endParaRPr lang="en-US">
              <a:ea typeface="Calibri"/>
              <a:cs typeface="Calibri"/>
            </a:endParaRPr>
          </a:p>
          <a:p>
            <a:r>
              <a:rPr lang="en-US" sz="1100" b="1">
                <a:latin typeface="Segoe UI"/>
                <a:cs typeface="Segoe UI"/>
              </a:rPr>
              <a:t>Vibe.PowerApps.com + Gen Pages</a:t>
            </a:r>
            <a:endParaRPr lang="en-US"/>
          </a:p>
          <a:p>
            <a:r>
              <a:rPr lang="en-US" sz="1100">
                <a:latin typeface="Segoe UI"/>
                <a:cs typeface="Segoe UI"/>
              </a:rPr>
              <a:t>AI helps generate screens, layouts, and formulas</a:t>
            </a:r>
            <a:endParaRPr lang="en-US"/>
          </a:p>
          <a:p>
            <a:r>
              <a:rPr lang="en-US" sz="1100">
                <a:latin typeface="Segoe UI"/>
                <a:cs typeface="Segoe UI"/>
              </a:rPr>
              <a:t>Modern interface for </a:t>
            </a:r>
            <a:r>
              <a:rPr lang="en-US" sz="1100" b="1">
                <a:latin typeface="Segoe UI"/>
                <a:cs typeface="Segoe UI"/>
              </a:rPr>
              <a:t>accelerated app building</a:t>
            </a:r>
            <a:endParaRPr lang="en-US"/>
          </a:p>
          <a:p>
            <a:r>
              <a:rPr lang="en-US" sz="1100">
                <a:latin typeface="Segoe UI"/>
                <a:cs typeface="Segoe UI"/>
              </a:rPr>
              <a:t>Produces consistent UI experiences using “</a:t>
            </a:r>
            <a:r>
              <a:rPr lang="en-US" sz="1100" b="1">
                <a:latin typeface="Segoe UI"/>
                <a:cs typeface="Segoe UI"/>
              </a:rPr>
              <a:t>Vibes</a:t>
            </a:r>
            <a:r>
              <a:rPr lang="en-US" sz="1100">
                <a:latin typeface="Segoe UI"/>
                <a:cs typeface="Segoe UI"/>
              </a:rPr>
              <a:t>”</a:t>
            </a:r>
            <a:endParaRPr lang="en-US"/>
          </a:p>
          <a:p>
            <a:endParaRPr lang="en-US" sz="1100">
              <a:latin typeface="Segoe UI"/>
              <a:cs typeface="Segoe UI"/>
            </a:endParaRPr>
          </a:p>
          <a:p>
            <a:r>
              <a:rPr lang="en-US" b="1"/>
              <a:t>Pro‑Code</a:t>
            </a:r>
            <a:endParaRPr lang="en-US"/>
          </a:p>
          <a:p>
            <a:r>
              <a:rPr lang="en-US" sz="1100" b="1">
                <a:latin typeface="Segoe UI"/>
                <a:cs typeface="Segoe UI"/>
              </a:rPr>
              <a:t>Developer Extensions</a:t>
            </a:r>
            <a:endParaRPr lang="en-US"/>
          </a:p>
          <a:p>
            <a:r>
              <a:rPr lang="en-US" sz="1100">
                <a:latin typeface="Segoe UI"/>
                <a:cs typeface="Segoe UI"/>
              </a:rPr>
              <a:t>Create </a:t>
            </a:r>
            <a:r>
              <a:rPr lang="en-US" sz="1100" b="1">
                <a:latin typeface="Segoe UI"/>
                <a:cs typeface="Segoe UI"/>
              </a:rPr>
              <a:t>custom components</a:t>
            </a:r>
            <a:r>
              <a:rPr lang="en-US" sz="1100">
                <a:latin typeface="Segoe UI"/>
                <a:cs typeface="Segoe UI"/>
              </a:rPr>
              <a:t> using PCF</a:t>
            </a:r>
            <a:endParaRPr lang="en-US"/>
          </a:p>
          <a:p>
            <a:r>
              <a:rPr lang="en-US" sz="1100">
                <a:latin typeface="Segoe UI"/>
                <a:cs typeface="Segoe UI"/>
              </a:rPr>
              <a:t>Integrate </a:t>
            </a:r>
            <a:r>
              <a:rPr lang="en-US" sz="1100" b="1">
                <a:latin typeface="Segoe UI"/>
                <a:cs typeface="Segoe UI"/>
              </a:rPr>
              <a:t>APIs, Azure Functions &amp; custom connectors</a:t>
            </a:r>
            <a:endParaRPr lang="en-US"/>
          </a:p>
          <a:p>
            <a:r>
              <a:rPr lang="en-US" sz="1100">
                <a:latin typeface="Segoe UI"/>
                <a:cs typeface="Segoe UI"/>
              </a:rPr>
              <a:t>Full development support in </a:t>
            </a:r>
            <a:r>
              <a:rPr lang="en-US" sz="1100" b="1">
                <a:latin typeface="Segoe UI"/>
                <a:cs typeface="Segoe UI"/>
              </a:rPr>
              <a:t>VS Code &amp; Power Platform CLI</a:t>
            </a:r>
            <a:endParaRPr lang="en-US"/>
          </a:p>
          <a:p>
            <a:r>
              <a:rPr lang="en-US" sz="1100">
                <a:latin typeface="Segoe UI"/>
                <a:cs typeface="Segoe UI"/>
              </a:rPr>
              <a:t>Ideal for </a:t>
            </a:r>
            <a:r>
              <a:rPr lang="en-US" sz="1100" b="1">
                <a:latin typeface="Segoe UI"/>
                <a:cs typeface="Segoe UI"/>
              </a:rPr>
              <a:t>pro developers</a:t>
            </a:r>
            <a:r>
              <a:rPr lang="en-US" sz="1100">
                <a:latin typeface="Segoe UI"/>
                <a:cs typeface="Segoe UI"/>
              </a:rPr>
              <a:t> extending the platform</a:t>
            </a:r>
            <a:endParaRPr lang="en-US"/>
          </a:p>
          <a:p>
            <a:endParaRPr lang="en-US">
              <a:ea typeface="Calibri"/>
              <a:cs typeface="Calibri"/>
            </a:endParaRPr>
          </a:p>
        </p:txBody>
      </p:sp>
    </p:spTree>
    <p:extLst>
      <p:ext uri="{BB962C8B-B14F-4D97-AF65-F5344CB8AC3E}">
        <p14:creationId xmlns:p14="http://schemas.microsoft.com/office/powerpoint/2010/main" val="2291636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Power Automate </a:t>
            </a:r>
          </a:p>
        </p:txBody>
      </p:sp>
      <p:sp>
        <p:nvSpPr>
          <p:cNvPr id="3" name="Content Placeholder 2"/>
          <p:cNvSpPr>
            <a:spLocks noGrp="1"/>
          </p:cNvSpPr>
          <p:nvPr>
            <p:ph idx="1"/>
          </p:nvPr>
        </p:nvSpPr>
        <p:spPr/>
        <p:txBody>
          <a:bodyPr/>
          <a:lstStyle/>
          <a:p>
            <a:r>
              <a:t>Automates repetitive tasks such as approvals, notifications, and integrations. Example: Auto-email when SharePoint item is created.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Power BI </a:t>
            </a:r>
          </a:p>
        </p:txBody>
      </p:sp>
      <p:sp>
        <p:nvSpPr>
          <p:cNvPr id="3" name="Content Placeholder 2"/>
          <p:cNvSpPr>
            <a:spLocks noGrp="1"/>
          </p:cNvSpPr>
          <p:nvPr>
            <p:ph idx="1"/>
          </p:nvPr>
        </p:nvSpPr>
        <p:spPr/>
        <p:txBody>
          <a:bodyPr/>
          <a:lstStyle/>
          <a:p>
            <a:r>
              <a:t>Used for interactive dashboards and analytics. Example: Sales dashboard tracking KPIs across regions.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Power Pages </a:t>
            </a:r>
          </a:p>
        </p:txBody>
      </p:sp>
      <p:sp>
        <p:nvSpPr>
          <p:cNvPr id="3" name="Content Placeholder 2"/>
          <p:cNvSpPr>
            <a:spLocks noGrp="1"/>
          </p:cNvSpPr>
          <p:nvPr>
            <p:ph idx="1"/>
          </p:nvPr>
        </p:nvSpPr>
        <p:spPr/>
        <p:txBody>
          <a:bodyPr/>
          <a:lstStyle/>
          <a:p>
            <a:r>
              <a:t>Used to build secure external-facing websites. Example: Customer service portal for ticket logging.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Dataverse </a:t>
            </a:r>
          </a:p>
        </p:txBody>
      </p:sp>
      <p:sp>
        <p:nvSpPr>
          <p:cNvPr id="3" name="Content Placeholder 2"/>
          <p:cNvSpPr>
            <a:spLocks noGrp="1"/>
          </p:cNvSpPr>
          <p:nvPr>
            <p:ph idx="1"/>
          </p:nvPr>
        </p:nvSpPr>
        <p:spPr/>
        <p:txBody>
          <a:bodyPr/>
          <a:lstStyle/>
          <a:p>
            <a:r>
              <a:t>Cloud-based data storage offering tables, relationships, security. Example: Central store for employee or customer data.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Use Cases &amp; Examples</a:t>
            </a:r>
          </a:p>
        </p:txBody>
      </p:sp>
      <p:sp>
        <p:nvSpPr>
          <p:cNvPr id="3" name="Content Placeholder 2"/>
          <p:cNvSpPr>
            <a:spLocks noGrp="1"/>
          </p:cNvSpPr>
          <p:nvPr>
            <p:ph idx="1"/>
          </p:nvPr>
        </p:nvSpPr>
        <p:spPr/>
        <p:txBody>
          <a:bodyPr/>
          <a:lstStyle/>
          <a:p>
            <a:r>
              <a:t>HR onboarding automation, Expense approval workflows, Inventory management apps, Financial dashboards.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Licensing Overview</a:t>
            </a:r>
          </a:p>
        </p:txBody>
      </p:sp>
      <p:sp>
        <p:nvSpPr>
          <p:cNvPr id="3" name="Content Placeholder 2"/>
          <p:cNvSpPr>
            <a:spLocks noGrp="1"/>
          </p:cNvSpPr>
          <p:nvPr>
            <p:ph idx="1"/>
          </p:nvPr>
        </p:nvSpPr>
        <p:spPr/>
        <p:txBody>
          <a:bodyPr vert="horz" lIns="91440" tIns="45720" rIns="91440" bIns="45720" rtlCol="0" anchor="t">
            <a:normAutofit/>
          </a:bodyPr>
          <a:lstStyle/>
          <a:p>
            <a:r>
              <a:t>Power Apps per-app/per-user plans, Power Automate per-flow or user plans, Power BI Pro/Premium licensing.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Environments</a:t>
            </a:r>
          </a:p>
        </p:txBody>
      </p:sp>
      <p:sp>
        <p:nvSpPr>
          <p:cNvPr id="3" name="Content Placeholder 2"/>
          <p:cNvSpPr>
            <a:spLocks noGrp="1"/>
          </p:cNvSpPr>
          <p:nvPr>
            <p:ph idx="1"/>
          </p:nvPr>
        </p:nvSpPr>
        <p:spPr/>
        <p:txBody>
          <a:bodyPr/>
          <a:lstStyle/>
          <a:p>
            <a:r>
              <a:t>Default – personal use.</a:t>
            </a:r>
          </a:p>
          <a:p>
            <a:r>
              <a:t>Sandbox – testing &amp; QA.</a:t>
            </a:r>
          </a:p>
          <a:p>
            <a:r>
              <a:t>Production – live business usage.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Solution-based Development</a:t>
            </a:r>
          </a:p>
        </p:txBody>
      </p:sp>
      <p:sp>
        <p:nvSpPr>
          <p:cNvPr id="3" name="Content Placeholder 2"/>
          <p:cNvSpPr>
            <a:spLocks noGrp="1"/>
          </p:cNvSpPr>
          <p:nvPr>
            <p:ph idx="1"/>
          </p:nvPr>
        </p:nvSpPr>
        <p:spPr/>
        <p:txBody>
          <a:bodyPr/>
          <a:lstStyle/>
          <a:p>
            <a:r>
              <a:t>Packages all components for ALM. Includes flows, apps, tables. Used for migration &amp; versioning.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F4C4-508A-417F-8C93-C13B6BB75CA6}"/>
              </a:ext>
            </a:extLst>
          </p:cNvPr>
          <p:cNvSpPr>
            <a:spLocks noGrp="1"/>
          </p:cNvSpPr>
          <p:nvPr>
            <p:ph type="title"/>
          </p:nvPr>
        </p:nvSpPr>
        <p:spPr/>
        <p:txBody>
          <a:bodyPr/>
          <a:lstStyle/>
          <a:p>
            <a:r>
              <a:rPr lang="en-US">
                <a:ea typeface="Calibri"/>
                <a:cs typeface="Calibri"/>
              </a:rPr>
              <a:t>PowerApps Collections</a:t>
            </a:r>
            <a:endParaRPr lang="en-US"/>
          </a:p>
        </p:txBody>
      </p:sp>
      <p:sp>
        <p:nvSpPr>
          <p:cNvPr id="3" name="Content Placeholder 2">
            <a:extLst>
              <a:ext uri="{FF2B5EF4-FFF2-40B4-BE49-F238E27FC236}">
                <a16:creationId xmlns:a16="http://schemas.microsoft.com/office/drawing/2014/main" id="{C94F2C9C-3938-C25B-3D16-2A9609E498B9}"/>
              </a:ext>
            </a:extLst>
          </p:cNvPr>
          <p:cNvSpPr>
            <a:spLocks noGrp="1"/>
          </p:cNvSpPr>
          <p:nvPr>
            <p:ph idx="1"/>
          </p:nvPr>
        </p:nvSpPr>
        <p:spPr/>
        <p:txBody>
          <a:bodyPr vert="horz" lIns="91440" tIns="45720" rIns="91440" bIns="45720" rtlCol="0" anchor="t">
            <a:normAutofit/>
          </a:bodyPr>
          <a:lstStyle/>
          <a:p>
            <a:r>
              <a:rPr lang="en-US" sz="1200">
                <a:solidFill>
                  <a:srgbClr val="333333"/>
                </a:solidFill>
                <a:highlight>
                  <a:srgbClr val="FFFFFF"/>
                </a:highlight>
                <a:latin typeface="Poppins"/>
                <a:cs typeface="Poppins"/>
              </a:rPr>
              <a:t>A collection is simply a Table of values.</a:t>
            </a:r>
            <a:endParaRPr lang="en-US">
              <a:ea typeface="Calibri"/>
              <a:cs typeface="Calibri"/>
            </a:endParaRPr>
          </a:p>
          <a:p>
            <a:r>
              <a:rPr lang="en-US" sz="1200" dirty="0">
                <a:solidFill>
                  <a:srgbClr val="333333"/>
                </a:solidFill>
                <a:highlight>
                  <a:srgbClr val="FFFFFF"/>
                </a:highlight>
                <a:latin typeface="Poppins"/>
                <a:cs typeface="Poppins"/>
              </a:rPr>
              <a:t>Collections have rows, columns and cells just like a table in Excel does</a:t>
            </a:r>
            <a:br>
              <a:rPr lang="en-US" sz="1200" dirty="0">
                <a:solidFill>
                  <a:srgbClr val="333333"/>
                </a:solidFill>
                <a:highlight>
                  <a:srgbClr val="FFFFFF"/>
                </a:highlight>
                <a:latin typeface="Poppins"/>
                <a:cs typeface="Poppins"/>
              </a:rPr>
            </a:br>
            <a:endParaRPr lang="en-US" sz="1200" dirty="0">
              <a:solidFill>
                <a:srgbClr val="333333"/>
              </a:solidFill>
              <a:highlight>
                <a:srgbClr val="FFFFFF"/>
              </a:highlight>
              <a:latin typeface="Poppins"/>
              <a:cs typeface="Poppins"/>
            </a:endParaRPr>
          </a:p>
          <a:p>
            <a:r>
              <a:rPr lang="en-US" sz="1200">
                <a:solidFill>
                  <a:srgbClr val="333333"/>
                </a:solidFill>
                <a:highlight>
                  <a:srgbClr val="FFFFFF"/>
                </a:highlight>
                <a:latin typeface="Poppins"/>
                <a:cs typeface="Poppins"/>
              </a:rPr>
              <a:t>All values in a column must be of the same data type (example: text, number, date, true/false)</a:t>
            </a:r>
            <a:br>
              <a:rPr lang="en-US" sz="1200" dirty="0">
                <a:solidFill>
                  <a:srgbClr val="333333"/>
                </a:solidFill>
                <a:highlight>
                  <a:srgbClr val="FFFFFF"/>
                </a:highlight>
                <a:latin typeface="Poppins"/>
                <a:cs typeface="Poppins"/>
              </a:rPr>
            </a:br>
            <a:endParaRPr lang="en-US" sz="1200" dirty="0">
              <a:solidFill>
                <a:srgbClr val="333333"/>
              </a:solidFill>
              <a:highlight>
                <a:srgbClr val="FFFFFF"/>
              </a:highlight>
              <a:latin typeface="Poppins"/>
              <a:cs typeface="Poppins"/>
            </a:endParaRPr>
          </a:p>
          <a:p>
            <a:r>
              <a:rPr lang="en-US" sz="1200" dirty="0">
                <a:solidFill>
                  <a:srgbClr val="333333"/>
                </a:solidFill>
                <a:highlight>
                  <a:srgbClr val="FFFFFF"/>
                </a:highlight>
                <a:latin typeface="Poppins"/>
                <a:cs typeface="Poppins"/>
              </a:rPr>
              <a:t>The maximum number of rows that can be imported into a collection at once is 500 rows by default but this can be increased to 2,000 by changing the delegation limit</a:t>
            </a:r>
            <a:endParaRPr lang="en-US" dirty="0"/>
          </a:p>
          <a:p>
            <a:r>
              <a:rPr lang="en-US">
                <a:ea typeface="Calibri"/>
                <a:cs typeface="Calibri"/>
              </a:rPr>
              <a:t>Example:</a:t>
            </a:r>
          </a:p>
          <a:p>
            <a:pPr marL="0" indent="0">
              <a:buNone/>
            </a:pPr>
            <a:endParaRPr lang="en-US" dirty="0">
              <a:solidFill>
                <a:srgbClr val="000000"/>
              </a:solidFill>
              <a:latin typeface="Calibri"/>
              <a:ea typeface="Calibri"/>
              <a:cs typeface="Calibri"/>
            </a:endParaRPr>
          </a:p>
          <a:p>
            <a:r>
              <a:rPr lang="en-US" sz="1000" dirty="0" err="1">
                <a:solidFill>
                  <a:srgbClr val="393A34"/>
                </a:solidFill>
                <a:highlight>
                  <a:srgbClr val="F0F0F0"/>
                </a:highlight>
                <a:latin typeface="Consolas"/>
                <a:ea typeface="Calibri"/>
                <a:cs typeface="Calibri"/>
              </a:rPr>
              <a:t>ClearCollect</a:t>
            </a:r>
            <a:r>
              <a:rPr lang="en-US" sz="1000" dirty="0">
                <a:solidFill>
                  <a:srgbClr val="393A34"/>
                </a:solidFill>
                <a:highlight>
                  <a:srgbClr val="F0F0F0"/>
                </a:highlight>
                <a:latin typeface="Consolas"/>
                <a:ea typeface="Calibri"/>
                <a:cs typeface="Calibri"/>
              </a:rPr>
              <a:t>(myCities1, {</a:t>
            </a:r>
            <a:r>
              <a:rPr lang="en-US" sz="1000" dirty="0">
                <a:solidFill>
                  <a:srgbClr val="393A34"/>
                </a:solidFill>
                <a:latin typeface="Consolas"/>
                <a:ea typeface="Calibri"/>
                <a:cs typeface="Calibri"/>
              </a:rPr>
              <a:t>City</a:t>
            </a:r>
            <a:r>
              <a:rPr lang="en-US" sz="1000" dirty="0">
                <a:solidFill>
                  <a:srgbClr val="393A34"/>
                </a:solidFill>
                <a:highlight>
                  <a:srgbClr val="F0F0F0"/>
                </a:highlight>
                <a:latin typeface="Consolas"/>
                <a:ea typeface="Calibri"/>
                <a:cs typeface="Calibri"/>
              </a:rPr>
              <a:t>: </a:t>
            </a:r>
            <a:r>
              <a:rPr lang="en-US" sz="1000" dirty="0">
                <a:solidFill>
                  <a:srgbClr val="A31515"/>
                </a:solidFill>
                <a:latin typeface="Consolas"/>
                <a:ea typeface="Calibri"/>
                <a:cs typeface="Calibri"/>
              </a:rPr>
              <a:t>"New York"</a:t>
            </a:r>
            <a:r>
              <a:rPr lang="en-US" sz="1000" dirty="0">
                <a:solidFill>
                  <a:srgbClr val="393A34"/>
                </a:solidFill>
                <a:highlight>
                  <a:srgbClr val="F0F0F0"/>
                </a:highlight>
                <a:latin typeface="Consolas"/>
                <a:ea typeface="Calibri"/>
                <a:cs typeface="Calibri"/>
              </a:rPr>
              <a:t>, </a:t>
            </a:r>
            <a:r>
              <a:rPr lang="en-US" sz="1000" dirty="0">
                <a:solidFill>
                  <a:srgbClr val="393A34"/>
                </a:solidFill>
                <a:latin typeface="Consolas"/>
                <a:ea typeface="Calibri"/>
                <a:cs typeface="Calibri"/>
              </a:rPr>
              <a:t>Country</a:t>
            </a:r>
            <a:r>
              <a:rPr lang="en-US" sz="1000" dirty="0">
                <a:solidFill>
                  <a:srgbClr val="393A34"/>
                </a:solidFill>
                <a:highlight>
                  <a:srgbClr val="F0F0F0"/>
                </a:highlight>
                <a:latin typeface="Consolas"/>
                <a:ea typeface="Calibri"/>
                <a:cs typeface="Calibri"/>
              </a:rPr>
              <a:t>: </a:t>
            </a:r>
            <a:r>
              <a:rPr lang="en-US" sz="1000" dirty="0">
                <a:solidFill>
                  <a:srgbClr val="A31515"/>
                </a:solidFill>
                <a:latin typeface="Consolas"/>
                <a:ea typeface="Calibri"/>
                <a:cs typeface="Calibri"/>
              </a:rPr>
              <a:t>"USA"</a:t>
            </a:r>
            <a:r>
              <a:rPr lang="en-US" sz="1000" dirty="0">
                <a:solidFill>
                  <a:srgbClr val="393A34"/>
                </a:solidFill>
                <a:highlight>
                  <a:srgbClr val="F0F0F0"/>
                </a:highlight>
                <a:latin typeface="Consolas"/>
                <a:ea typeface="Calibri"/>
                <a:cs typeface="Calibri"/>
              </a:rPr>
              <a:t>, </a:t>
            </a:r>
            <a:r>
              <a:rPr lang="en-US" sz="1000" dirty="0">
                <a:solidFill>
                  <a:srgbClr val="393A34"/>
                </a:solidFill>
                <a:latin typeface="Consolas"/>
                <a:ea typeface="Calibri"/>
                <a:cs typeface="Calibri"/>
              </a:rPr>
              <a:t>Continent</a:t>
            </a:r>
            <a:r>
              <a:rPr lang="en-US" sz="1000" dirty="0">
                <a:solidFill>
                  <a:srgbClr val="393A34"/>
                </a:solidFill>
                <a:highlight>
                  <a:srgbClr val="F0F0F0"/>
                </a:highlight>
                <a:latin typeface="Consolas"/>
                <a:ea typeface="Calibri"/>
                <a:cs typeface="Calibri"/>
              </a:rPr>
              <a:t>: </a:t>
            </a:r>
            <a:r>
              <a:rPr lang="en-US" sz="1000" dirty="0">
                <a:solidFill>
                  <a:srgbClr val="A31515"/>
                </a:solidFill>
                <a:latin typeface="Consolas"/>
                <a:ea typeface="Calibri"/>
                <a:cs typeface="Calibri"/>
              </a:rPr>
              <a:t>"North America"</a:t>
            </a:r>
            <a:r>
              <a:rPr lang="en-US" sz="1000" dirty="0">
                <a:solidFill>
                  <a:srgbClr val="393A34"/>
                </a:solidFill>
                <a:highlight>
                  <a:srgbClr val="F0F0F0"/>
                </a:highlight>
                <a:latin typeface="Consolas"/>
                <a:ea typeface="Calibri"/>
                <a:cs typeface="Calibri"/>
              </a:rPr>
              <a:t>}, {</a:t>
            </a:r>
            <a:r>
              <a:rPr lang="en-US" sz="1000" dirty="0">
                <a:solidFill>
                  <a:srgbClr val="393A34"/>
                </a:solidFill>
                <a:latin typeface="Consolas"/>
                <a:ea typeface="Calibri"/>
                <a:cs typeface="Calibri"/>
              </a:rPr>
              <a:t>City</a:t>
            </a:r>
            <a:r>
              <a:rPr lang="en-US" sz="1000" dirty="0">
                <a:solidFill>
                  <a:srgbClr val="393A34"/>
                </a:solidFill>
                <a:highlight>
                  <a:srgbClr val="F0F0F0"/>
                </a:highlight>
                <a:latin typeface="Consolas"/>
                <a:ea typeface="Calibri"/>
                <a:cs typeface="Calibri"/>
              </a:rPr>
              <a:t>: </a:t>
            </a:r>
            <a:r>
              <a:rPr lang="en-US" sz="1000" dirty="0">
                <a:solidFill>
                  <a:srgbClr val="A31515"/>
                </a:solidFill>
                <a:latin typeface="Consolas"/>
                <a:ea typeface="Calibri"/>
                <a:cs typeface="Calibri"/>
              </a:rPr>
              <a:t>"London"</a:t>
            </a:r>
            <a:r>
              <a:rPr lang="en-US" sz="1000" dirty="0">
                <a:solidFill>
                  <a:srgbClr val="393A34"/>
                </a:solidFill>
                <a:highlight>
                  <a:srgbClr val="F0F0F0"/>
                </a:highlight>
                <a:latin typeface="Consolas"/>
                <a:ea typeface="Calibri"/>
                <a:cs typeface="Calibri"/>
              </a:rPr>
              <a:t>, </a:t>
            </a:r>
            <a:r>
              <a:rPr lang="en-US" sz="1000" dirty="0" err="1">
                <a:solidFill>
                  <a:srgbClr val="393A34"/>
                </a:solidFill>
                <a:latin typeface="Consolas"/>
                <a:ea typeface="Calibri"/>
                <a:cs typeface="Calibri"/>
              </a:rPr>
              <a:t>Country</a:t>
            </a:r>
            <a:r>
              <a:rPr lang="en-US" sz="1000" dirty="0" err="1">
                <a:solidFill>
                  <a:srgbClr val="393A34"/>
                </a:solidFill>
                <a:highlight>
                  <a:srgbClr val="F0F0F0"/>
                </a:highlight>
                <a:latin typeface="Consolas"/>
                <a:ea typeface="Calibri"/>
                <a:cs typeface="Calibri"/>
              </a:rPr>
              <a:t>:</a:t>
            </a:r>
            <a:r>
              <a:rPr lang="en-US" sz="1000" dirty="0" err="1">
                <a:solidFill>
                  <a:srgbClr val="A31515"/>
                </a:solidFill>
                <a:latin typeface="Consolas"/>
                <a:ea typeface="Calibri"/>
                <a:cs typeface="Calibri"/>
              </a:rPr>
              <a:t>"United</a:t>
            </a:r>
            <a:r>
              <a:rPr lang="en-US" sz="1000" dirty="0">
                <a:solidFill>
                  <a:srgbClr val="A31515"/>
                </a:solidFill>
                <a:latin typeface="Consolas"/>
                <a:ea typeface="Calibri"/>
                <a:cs typeface="Calibri"/>
              </a:rPr>
              <a:t> Kingdom"</a:t>
            </a:r>
            <a:r>
              <a:rPr lang="en-US" sz="1000" dirty="0">
                <a:solidFill>
                  <a:srgbClr val="393A34"/>
                </a:solidFill>
                <a:highlight>
                  <a:srgbClr val="F0F0F0"/>
                </a:highlight>
                <a:latin typeface="Consolas"/>
                <a:ea typeface="Calibri"/>
                <a:cs typeface="Calibri"/>
              </a:rPr>
              <a:t>, </a:t>
            </a:r>
            <a:r>
              <a:rPr lang="en-US" sz="1000" dirty="0">
                <a:solidFill>
                  <a:srgbClr val="393A34"/>
                </a:solidFill>
                <a:latin typeface="Consolas"/>
                <a:ea typeface="Calibri"/>
                <a:cs typeface="Calibri"/>
              </a:rPr>
              <a:t>Continent</a:t>
            </a:r>
            <a:r>
              <a:rPr lang="en-US" sz="1000" dirty="0">
                <a:solidFill>
                  <a:srgbClr val="393A34"/>
                </a:solidFill>
                <a:highlight>
                  <a:srgbClr val="F0F0F0"/>
                </a:highlight>
                <a:latin typeface="Consolas"/>
                <a:ea typeface="Calibri"/>
                <a:cs typeface="Calibri"/>
              </a:rPr>
              <a:t>: </a:t>
            </a:r>
            <a:r>
              <a:rPr lang="en-US" sz="1000" dirty="0">
                <a:solidFill>
                  <a:srgbClr val="A31515"/>
                </a:solidFill>
                <a:latin typeface="Consolas"/>
                <a:ea typeface="Calibri"/>
                <a:cs typeface="Calibri"/>
              </a:rPr>
              <a:t>"Europe"</a:t>
            </a:r>
            <a:r>
              <a:rPr lang="en-US" sz="1000" dirty="0">
                <a:solidFill>
                  <a:srgbClr val="393A34"/>
                </a:solidFill>
                <a:highlight>
                  <a:srgbClr val="F0F0F0"/>
                </a:highlight>
                <a:latin typeface="Consolas"/>
                <a:ea typeface="Calibri"/>
                <a:cs typeface="Calibri"/>
              </a:rPr>
              <a:t>}, {</a:t>
            </a:r>
            <a:r>
              <a:rPr lang="en-US" sz="1000" dirty="0">
                <a:solidFill>
                  <a:srgbClr val="393A34"/>
                </a:solidFill>
                <a:latin typeface="Consolas"/>
                <a:ea typeface="Calibri"/>
                <a:cs typeface="Calibri"/>
              </a:rPr>
              <a:t>City</a:t>
            </a:r>
            <a:r>
              <a:rPr lang="en-US" sz="1000" dirty="0">
                <a:solidFill>
                  <a:srgbClr val="393A34"/>
                </a:solidFill>
                <a:highlight>
                  <a:srgbClr val="F0F0F0"/>
                </a:highlight>
                <a:latin typeface="Consolas"/>
                <a:ea typeface="Calibri"/>
                <a:cs typeface="Calibri"/>
              </a:rPr>
              <a:t>: </a:t>
            </a:r>
            <a:r>
              <a:rPr lang="en-US" sz="1000" dirty="0">
                <a:solidFill>
                  <a:srgbClr val="A31515"/>
                </a:solidFill>
                <a:latin typeface="Consolas"/>
                <a:ea typeface="Calibri"/>
                <a:cs typeface="Calibri"/>
              </a:rPr>
              <a:t>"Kyoto"</a:t>
            </a:r>
            <a:r>
              <a:rPr lang="en-US" sz="1000" dirty="0">
                <a:solidFill>
                  <a:srgbClr val="393A34"/>
                </a:solidFill>
                <a:highlight>
                  <a:srgbClr val="F0F0F0"/>
                </a:highlight>
                <a:latin typeface="Consolas"/>
                <a:ea typeface="Calibri"/>
                <a:cs typeface="Calibri"/>
              </a:rPr>
              <a:t>, </a:t>
            </a:r>
            <a:r>
              <a:rPr lang="en-US" sz="1000" dirty="0">
                <a:solidFill>
                  <a:srgbClr val="393A34"/>
                </a:solidFill>
                <a:latin typeface="Consolas"/>
                <a:ea typeface="Calibri"/>
                <a:cs typeface="Calibri"/>
              </a:rPr>
              <a:t>Country</a:t>
            </a:r>
            <a:r>
              <a:rPr lang="en-US" sz="1000" dirty="0">
                <a:solidFill>
                  <a:srgbClr val="393A34"/>
                </a:solidFill>
                <a:highlight>
                  <a:srgbClr val="F0F0F0"/>
                </a:highlight>
                <a:latin typeface="Consolas"/>
                <a:ea typeface="Calibri"/>
                <a:cs typeface="Calibri"/>
              </a:rPr>
              <a:t>: </a:t>
            </a:r>
            <a:r>
              <a:rPr lang="en-US" sz="1000" dirty="0">
                <a:solidFill>
                  <a:srgbClr val="A31515"/>
                </a:solidFill>
                <a:latin typeface="Consolas"/>
                <a:ea typeface="Calibri"/>
                <a:cs typeface="Calibri"/>
              </a:rPr>
              <a:t>"Japan"</a:t>
            </a:r>
            <a:r>
              <a:rPr lang="en-US" sz="1000" dirty="0">
                <a:solidFill>
                  <a:srgbClr val="393A34"/>
                </a:solidFill>
                <a:highlight>
                  <a:srgbClr val="F0F0F0"/>
                </a:highlight>
                <a:latin typeface="Consolas"/>
                <a:ea typeface="Calibri"/>
                <a:cs typeface="Calibri"/>
              </a:rPr>
              <a:t>, </a:t>
            </a:r>
            <a:r>
              <a:rPr lang="en-US" sz="1000" dirty="0">
                <a:solidFill>
                  <a:srgbClr val="393A34"/>
                </a:solidFill>
                <a:latin typeface="Consolas"/>
                <a:ea typeface="Calibri"/>
                <a:cs typeface="Calibri"/>
              </a:rPr>
              <a:t>Continent</a:t>
            </a:r>
            <a:r>
              <a:rPr lang="en-US" sz="1000" dirty="0">
                <a:solidFill>
                  <a:srgbClr val="393A34"/>
                </a:solidFill>
                <a:highlight>
                  <a:srgbClr val="F0F0F0"/>
                </a:highlight>
                <a:latin typeface="Consolas"/>
                <a:ea typeface="Calibri"/>
                <a:cs typeface="Calibri"/>
              </a:rPr>
              <a:t>: </a:t>
            </a:r>
            <a:r>
              <a:rPr lang="en-US" sz="1000" dirty="0">
                <a:solidFill>
                  <a:srgbClr val="A31515"/>
                </a:solidFill>
                <a:latin typeface="Consolas"/>
                <a:ea typeface="Calibri"/>
                <a:cs typeface="Calibri"/>
              </a:rPr>
              <a:t>"Asia"</a:t>
            </a:r>
            <a:r>
              <a:rPr lang="en-US" sz="1000" dirty="0">
                <a:solidFill>
                  <a:srgbClr val="393A34"/>
                </a:solidFill>
                <a:highlight>
                  <a:srgbClr val="F0F0F0"/>
                </a:highlight>
                <a:latin typeface="Consolas"/>
                <a:ea typeface="Calibri"/>
                <a:cs typeface="Calibri"/>
              </a:rPr>
              <a:t>}, {</a:t>
            </a:r>
            <a:r>
              <a:rPr lang="en-US" sz="1000" dirty="0">
                <a:solidFill>
                  <a:srgbClr val="393A34"/>
                </a:solidFill>
                <a:latin typeface="Consolas"/>
                <a:ea typeface="Calibri"/>
                <a:cs typeface="Calibri"/>
              </a:rPr>
              <a:t>City</a:t>
            </a:r>
            <a:r>
              <a:rPr lang="en-US" sz="1000" dirty="0">
                <a:solidFill>
                  <a:srgbClr val="393A34"/>
                </a:solidFill>
                <a:highlight>
                  <a:srgbClr val="F0F0F0"/>
                </a:highlight>
                <a:latin typeface="Consolas"/>
                <a:ea typeface="Calibri"/>
                <a:cs typeface="Calibri"/>
              </a:rPr>
              <a:t>: </a:t>
            </a:r>
            <a:r>
              <a:rPr lang="en-US" sz="1000" dirty="0">
                <a:solidFill>
                  <a:srgbClr val="A31515"/>
                </a:solidFill>
                <a:latin typeface="Consolas"/>
                <a:ea typeface="Calibri"/>
                <a:cs typeface="Calibri"/>
              </a:rPr>
              <a:t>"Osaka"</a:t>
            </a:r>
            <a:r>
              <a:rPr lang="en-US" sz="1000" dirty="0">
                <a:solidFill>
                  <a:srgbClr val="393A34"/>
                </a:solidFill>
                <a:highlight>
                  <a:srgbClr val="F0F0F0"/>
                </a:highlight>
                <a:latin typeface="Consolas"/>
                <a:ea typeface="Calibri"/>
                <a:cs typeface="Calibri"/>
              </a:rPr>
              <a:t>, </a:t>
            </a:r>
            <a:r>
              <a:rPr lang="en-US" sz="1000" dirty="0">
                <a:solidFill>
                  <a:srgbClr val="393A34"/>
                </a:solidFill>
                <a:latin typeface="Consolas"/>
                <a:ea typeface="Calibri"/>
                <a:cs typeface="Calibri"/>
              </a:rPr>
              <a:t>Country</a:t>
            </a:r>
            <a:r>
              <a:rPr lang="en-US" sz="1000" dirty="0">
                <a:solidFill>
                  <a:srgbClr val="393A34"/>
                </a:solidFill>
                <a:highlight>
                  <a:srgbClr val="F0F0F0"/>
                </a:highlight>
                <a:latin typeface="Consolas"/>
                <a:ea typeface="Calibri"/>
                <a:cs typeface="Calibri"/>
              </a:rPr>
              <a:t>: </a:t>
            </a:r>
            <a:r>
              <a:rPr lang="en-US" sz="1000" dirty="0">
                <a:solidFill>
                  <a:srgbClr val="A31515"/>
                </a:solidFill>
                <a:latin typeface="Consolas"/>
                <a:ea typeface="Calibri"/>
                <a:cs typeface="Calibri"/>
              </a:rPr>
              <a:t>"Japan"</a:t>
            </a:r>
            <a:r>
              <a:rPr lang="en-US" sz="1000" dirty="0">
                <a:solidFill>
                  <a:srgbClr val="393A34"/>
                </a:solidFill>
                <a:highlight>
                  <a:srgbClr val="F0F0F0"/>
                </a:highlight>
                <a:latin typeface="Consolas"/>
                <a:ea typeface="Calibri"/>
                <a:cs typeface="Calibri"/>
              </a:rPr>
              <a:t>, </a:t>
            </a:r>
            <a:r>
              <a:rPr lang="en-US" sz="1000" dirty="0">
                <a:solidFill>
                  <a:srgbClr val="393A34"/>
                </a:solidFill>
                <a:latin typeface="Consolas"/>
                <a:ea typeface="Calibri"/>
                <a:cs typeface="Calibri"/>
              </a:rPr>
              <a:t>Continent</a:t>
            </a:r>
            <a:r>
              <a:rPr lang="en-US" sz="1000" dirty="0">
                <a:solidFill>
                  <a:srgbClr val="393A34"/>
                </a:solidFill>
                <a:highlight>
                  <a:srgbClr val="F0F0F0"/>
                </a:highlight>
                <a:latin typeface="Consolas"/>
                <a:ea typeface="Calibri"/>
                <a:cs typeface="Calibri"/>
              </a:rPr>
              <a:t>: </a:t>
            </a:r>
            <a:r>
              <a:rPr lang="en-US" sz="1000" dirty="0">
                <a:solidFill>
                  <a:srgbClr val="A31515"/>
                </a:solidFill>
                <a:latin typeface="Consolas"/>
                <a:ea typeface="Calibri"/>
                <a:cs typeface="Calibri"/>
              </a:rPr>
              <a:t>"Asia"</a:t>
            </a:r>
            <a:r>
              <a:rPr lang="en-US" sz="1000" dirty="0">
                <a:solidFill>
                  <a:srgbClr val="393A34"/>
                </a:solidFill>
                <a:highlight>
                  <a:srgbClr val="F0F0F0"/>
                </a:highlight>
                <a:latin typeface="Consolas"/>
                <a:ea typeface="Calibri"/>
                <a:cs typeface="Calibri"/>
              </a:rPr>
              <a:t>}, {</a:t>
            </a:r>
            <a:r>
              <a:rPr lang="en-US" sz="1000" dirty="0">
                <a:solidFill>
                  <a:srgbClr val="393A34"/>
                </a:solidFill>
                <a:latin typeface="Consolas"/>
                <a:ea typeface="Calibri"/>
                <a:cs typeface="Calibri"/>
              </a:rPr>
              <a:t>City</a:t>
            </a:r>
            <a:r>
              <a:rPr lang="en-US" sz="1000" dirty="0">
                <a:solidFill>
                  <a:srgbClr val="393A34"/>
                </a:solidFill>
                <a:highlight>
                  <a:srgbClr val="F0F0F0"/>
                </a:highlight>
                <a:latin typeface="Consolas"/>
                <a:ea typeface="Calibri"/>
                <a:cs typeface="Calibri"/>
              </a:rPr>
              <a:t>: </a:t>
            </a:r>
            <a:r>
              <a:rPr lang="en-US" sz="1000" dirty="0">
                <a:solidFill>
                  <a:srgbClr val="A31515"/>
                </a:solidFill>
                <a:latin typeface="Consolas"/>
                <a:ea typeface="Calibri"/>
                <a:cs typeface="Calibri"/>
              </a:rPr>
              <a:t>"Los Angeles"</a:t>
            </a:r>
            <a:r>
              <a:rPr lang="en-US" sz="1000" dirty="0">
                <a:solidFill>
                  <a:srgbClr val="393A34"/>
                </a:solidFill>
                <a:highlight>
                  <a:srgbClr val="F0F0F0"/>
                </a:highlight>
                <a:latin typeface="Consolas"/>
                <a:ea typeface="Calibri"/>
                <a:cs typeface="Calibri"/>
              </a:rPr>
              <a:t>, </a:t>
            </a:r>
            <a:r>
              <a:rPr lang="en-US" sz="1000" dirty="0">
                <a:solidFill>
                  <a:srgbClr val="393A34"/>
                </a:solidFill>
                <a:latin typeface="Consolas"/>
                <a:ea typeface="Calibri"/>
                <a:cs typeface="Calibri"/>
              </a:rPr>
              <a:t>Country</a:t>
            </a:r>
            <a:r>
              <a:rPr lang="en-US" sz="1000" dirty="0">
                <a:solidFill>
                  <a:srgbClr val="393A34"/>
                </a:solidFill>
                <a:highlight>
                  <a:srgbClr val="F0F0F0"/>
                </a:highlight>
                <a:latin typeface="Consolas"/>
                <a:ea typeface="Calibri"/>
                <a:cs typeface="Calibri"/>
              </a:rPr>
              <a:t>: </a:t>
            </a:r>
            <a:r>
              <a:rPr lang="en-US" sz="1000" dirty="0">
                <a:solidFill>
                  <a:srgbClr val="A31515"/>
                </a:solidFill>
                <a:latin typeface="Consolas"/>
                <a:ea typeface="Calibri"/>
                <a:cs typeface="Calibri"/>
              </a:rPr>
              <a:t>"USA"</a:t>
            </a:r>
            <a:r>
              <a:rPr lang="en-US" sz="1000" dirty="0">
                <a:solidFill>
                  <a:srgbClr val="393A34"/>
                </a:solidFill>
                <a:highlight>
                  <a:srgbClr val="F0F0F0"/>
                </a:highlight>
                <a:latin typeface="Consolas"/>
                <a:ea typeface="Calibri"/>
                <a:cs typeface="Calibri"/>
              </a:rPr>
              <a:t>, </a:t>
            </a:r>
            <a:r>
              <a:rPr lang="en-US" sz="1000" dirty="0">
                <a:solidFill>
                  <a:srgbClr val="393A34"/>
                </a:solidFill>
                <a:latin typeface="Consolas"/>
                <a:ea typeface="Calibri"/>
                <a:cs typeface="Calibri"/>
              </a:rPr>
              <a:t>Continent</a:t>
            </a:r>
            <a:r>
              <a:rPr lang="en-US" sz="1000" dirty="0">
                <a:solidFill>
                  <a:srgbClr val="393A34"/>
                </a:solidFill>
                <a:highlight>
                  <a:srgbClr val="F0F0F0"/>
                </a:highlight>
                <a:latin typeface="Consolas"/>
                <a:ea typeface="Calibri"/>
                <a:cs typeface="Calibri"/>
              </a:rPr>
              <a:t>: </a:t>
            </a:r>
            <a:r>
              <a:rPr lang="en-US" sz="1000" dirty="0">
                <a:solidFill>
                  <a:srgbClr val="A31515"/>
                </a:solidFill>
                <a:latin typeface="Consolas"/>
                <a:ea typeface="Calibri"/>
                <a:cs typeface="Calibri"/>
              </a:rPr>
              <a:t>"North America"</a:t>
            </a:r>
            <a:r>
              <a:rPr lang="en-US" sz="1000" dirty="0">
                <a:solidFill>
                  <a:srgbClr val="393A34"/>
                </a:solidFill>
                <a:highlight>
                  <a:srgbClr val="F0F0F0"/>
                </a:highlight>
                <a:latin typeface="Consolas"/>
                <a:ea typeface="Calibri"/>
                <a:cs typeface="Calibri"/>
              </a:rPr>
              <a:t>}, {</a:t>
            </a:r>
            <a:r>
              <a:rPr lang="en-US" sz="1000" dirty="0">
                <a:solidFill>
                  <a:srgbClr val="393A34"/>
                </a:solidFill>
                <a:latin typeface="Consolas"/>
                <a:ea typeface="Calibri"/>
                <a:cs typeface="Calibri"/>
              </a:rPr>
              <a:t>City</a:t>
            </a:r>
            <a:r>
              <a:rPr lang="en-US" sz="1000" dirty="0">
                <a:solidFill>
                  <a:srgbClr val="393A34"/>
                </a:solidFill>
                <a:highlight>
                  <a:srgbClr val="F0F0F0"/>
                </a:highlight>
                <a:latin typeface="Consolas"/>
                <a:ea typeface="Calibri"/>
                <a:cs typeface="Calibri"/>
              </a:rPr>
              <a:t>: </a:t>
            </a:r>
            <a:r>
              <a:rPr lang="en-US" sz="1000" dirty="0">
                <a:solidFill>
                  <a:srgbClr val="A31515"/>
                </a:solidFill>
                <a:latin typeface="Consolas"/>
                <a:ea typeface="Calibri"/>
                <a:cs typeface="Calibri"/>
              </a:rPr>
              <a:t>"Paris"</a:t>
            </a:r>
            <a:r>
              <a:rPr lang="en-US" sz="1000" dirty="0">
                <a:solidFill>
                  <a:srgbClr val="393A34"/>
                </a:solidFill>
                <a:highlight>
                  <a:srgbClr val="F0F0F0"/>
                </a:highlight>
                <a:latin typeface="Consolas"/>
                <a:ea typeface="Calibri"/>
                <a:cs typeface="Calibri"/>
              </a:rPr>
              <a:t>, </a:t>
            </a:r>
            <a:r>
              <a:rPr lang="en-US" sz="1000" dirty="0">
                <a:solidFill>
                  <a:srgbClr val="393A34"/>
                </a:solidFill>
                <a:latin typeface="Consolas"/>
                <a:ea typeface="Calibri"/>
                <a:cs typeface="Calibri"/>
              </a:rPr>
              <a:t>Country</a:t>
            </a:r>
            <a:r>
              <a:rPr lang="en-US" sz="1000" dirty="0">
                <a:solidFill>
                  <a:srgbClr val="393A34"/>
                </a:solidFill>
                <a:highlight>
                  <a:srgbClr val="F0F0F0"/>
                </a:highlight>
                <a:latin typeface="Consolas"/>
                <a:ea typeface="Calibri"/>
                <a:cs typeface="Calibri"/>
              </a:rPr>
              <a:t>: </a:t>
            </a:r>
            <a:r>
              <a:rPr lang="en-US" sz="1000" dirty="0">
                <a:solidFill>
                  <a:srgbClr val="A31515"/>
                </a:solidFill>
                <a:latin typeface="Consolas"/>
                <a:ea typeface="Calibri"/>
                <a:cs typeface="Calibri"/>
              </a:rPr>
              <a:t>"France"</a:t>
            </a:r>
            <a:r>
              <a:rPr lang="en-US" sz="1000" dirty="0">
                <a:solidFill>
                  <a:srgbClr val="393A34"/>
                </a:solidFill>
                <a:highlight>
                  <a:srgbClr val="F0F0F0"/>
                </a:highlight>
                <a:latin typeface="Consolas"/>
                <a:ea typeface="Calibri"/>
                <a:cs typeface="Calibri"/>
              </a:rPr>
              <a:t>, </a:t>
            </a:r>
            <a:r>
              <a:rPr lang="en-US" sz="1000" dirty="0">
                <a:solidFill>
                  <a:srgbClr val="393A34"/>
                </a:solidFill>
                <a:latin typeface="Consolas"/>
                <a:ea typeface="Calibri"/>
                <a:cs typeface="Calibri"/>
              </a:rPr>
              <a:t>Continent</a:t>
            </a:r>
            <a:r>
              <a:rPr lang="en-US" sz="1000" dirty="0">
                <a:solidFill>
                  <a:srgbClr val="393A34"/>
                </a:solidFill>
                <a:highlight>
                  <a:srgbClr val="F0F0F0"/>
                </a:highlight>
                <a:latin typeface="Consolas"/>
                <a:ea typeface="Calibri"/>
                <a:cs typeface="Calibri"/>
              </a:rPr>
              <a:t>: </a:t>
            </a:r>
            <a:r>
              <a:rPr lang="en-US" sz="1000" dirty="0">
                <a:solidFill>
                  <a:srgbClr val="A31515"/>
                </a:solidFill>
                <a:latin typeface="Consolas"/>
                <a:ea typeface="Calibri"/>
                <a:cs typeface="Calibri"/>
              </a:rPr>
              <a:t>"Europe"</a:t>
            </a:r>
            <a:r>
              <a:rPr lang="en-US" sz="1000" dirty="0">
                <a:solidFill>
                  <a:srgbClr val="393A34"/>
                </a:solidFill>
                <a:highlight>
                  <a:srgbClr val="F0F0F0"/>
                </a:highlight>
                <a:latin typeface="Consolas"/>
                <a:ea typeface="Calibri"/>
                <a:cs typeface="Calibri"/>
              </a:rPr>
              <a:t>}, {</a:t>
            </a:r>
            <a:r>
              <a:rPr lang="en-US" sz="1000" dirty="0">
                <a:solidFill>
                  <a:srgbClr val="393A34"/>
                </a:solidFill>
                <a:latin typeface="Consolas"/>
                <a:ea typeface="Calibri"/>
                <a:cs typeface="Calibri"/>
              </a:rPr>
              <a:t>City</a:t>
            </a:r>
            <a:r>
              <a:rPr lang="en-US" sz="1000" dirty="0">
                <a:solidFill>
                  <a:srgbClr val="393A34"/>
                </a:solidFill>
                <a:highlight>
                  <a:srgbClr val="F0F0F0"/>
                </a:highlight>
                <a:latin typeface="Consolas"/>
                <a:ea typeface="Calibri"/>
                <a:cs typeface="Calibri"/>
              </a:rPr>
              <a:t>: </a:t>
            </a:r>
            <a:r>
              <a:rPr lang="en-US" sz="1000" dirty="0">
                <a:solidFill>
                  <a:srgbClr val="A31515"/>
                </a:solidFill>
                <a:latin typeface="Consolas"/>
                <a:ea typeface="Calibri"/>
                <a:cs typeface="Calibri"/>
              </a:rPr>
              <a:t>"Birmingham"</a:t>
            </a:r>
            <a:r>
              <a:rPr lang="en-US" sz="1000" dirty="0">
                <a:solidFill>
                  <a:srgbClr val="393A34"/>
                </a:solidFill>
                <a:highlight>
                  <a:srgbClr val="F0F0F0"/>
                </a:highlight>
                <a:latin typeface="Consolas"/>
                <a:ea typeface="Calibri"/>
                <a:cs typeface="Calibri"/>
              </a:rPr>
              <a:t>, </a:t>
            </a:r>
            <a:r>
              <a:rPr lang="en-US" sz="1000" dirty="0" err="1">
                <a:solidFill>
                  <a:srgbClr val="393A34"/>
                </a:solidFill>
                <a:latin typeface="Consolas"/>
                <a:ea typeface="Calibri"/>
                <a:cs typeface="Calibri"/>
              </a:rPr>
              <a:t>Country</a:t>
            </a:r>
            <a:r>
              <a:rPr lang="en-US" sz="1000" dirty="0" err="1">
                <a:solidFill>
                  <a:srgbClr val="393A34"/>
                </a:solidFill>
                <a:highlight>
                  <a:srgbClr val="F0F0F0"/>
                </a:highlight>
                <a:latin typeface="Consolas"/>
                <a:ea typeface="Calibri"/>
                <a:cs typeface="Calibri"/>
              </a:rPr>
              <a:t>:</a:t>
            </a:r>
            <a:r>
              <a:rPr lang="en-US" sz="1000" dirty="0" err="1">
                <a:solidFill>
                  <a:srgbClr val="A31515"/>
                </a:solidFill>
                <a:latin typeface="Consolas"/>
                <a:ea typeface="Calibri"/>
                <a:cs typeface="Calibri"/>
              </a:rPr>
              <a:t>"United</a:t>
            </a:r>
            <a:r>
              <a:rPr lang="en-US" sz="1000" dirty="0">
                <a:solidFill>
                  <a:srgbClr val="A31515"/>
                </a:solidFill>
                <a:latin typeface="Consolas"/>
                <a:ea typeface="Calibri"/>
                <a:cs typeface="Calibri"/>
              </a:rPr>
              <a:t> Kingdom"</a:t>
            </a:r>
            <a:r>
              <a:rPr lang="en-US" sz="1000" dirty="0">
                <a:solidFill>
                  <a:srgbClr val="393A34"/>
                </a:solidFill>
                <a:highlight>
                  <a:srgbClr val="F0F0F0"/>
                </a:highlight>
                <a:latin typeface="Consolas"/>
                <a:ea typeface="Calibri"/>
                <a:cs typeface="Calibri"/>
              </a:rPr>
              <a:t>, </a:t>
            </a:r>
            <a:r>
              <a:rPr lang="en-US" sz="1000" dirty="0">
                <a:solidFill>
                  <a:srgbClr val="393A34"/>
                </a:solidFill>
                <a:latin typeface="Consolas"/>
                <a:ea typeface="Calibri"/>
                <a:cs typeface="Calibri"/>
              </a:rPr>
              <a:t>Continent</a:t>
            </a:r>
            <a:r>
              <a:rPr lang="en-US" sz="1000" dirty="0">
                <a:solidFill>
                  <a:srgbClr val="393A34"/>
                </a:solidFill>
                <a:highlight>
                  <a:srgbClr val="F0F0F0"/>
                </a:highlight>
                <a:latin typeface="Consolas"/>
                <a:ea typeface="Calibri"/>
                <a:cs typeface="Calibri"/>
              </a:rPr>
              <a:t>: </a:t>
            </a:r>
            <a:r>
              <a:rPr lang="en-US" sz="1000" dirty="0">
                <a:solidFill>
                  <a:srgbClr val="A31515"/>
                </a:solidFill>
                <a:latin typeface="Consolas"/>
                <a:ea typeface="Calibri"/>
                <a:cs typeface="Calibri"/>
              </a:rPr>
              <a:t>"Europe"</a:t>
            </a:r>
            <a:r>
              <a:rPr lang="en-US" sz="1000" dirty="0">
                <a:solidFill>
                  <a:srgbClr val="393A34"/>
                </a:solidFill>
                <a:highlight>
                  <a:srgbClr val="F0F0F0"/>
                </a:highlight>
                <a:latin typeface="Consolas"/>
                <a:ea typeface="Calibri"/>
                <a:cs typeface="Calibri"/>
              </a:rPr>
              <a:t>} );</a:t>
            </a:r>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19890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6EFBA-80B4-D094-A88B-06C464A11789}"/>
              </a:ext>
            </a:extLst>
          </p:cNvPr>
          <p:cNvSpPr>
            <a:spLocks noGrp="1"/>
          </p:cNvSpPr>
          <p:nvPr>
            <p:ph type="title"/>
          </p:nvPr>
        </p:nvSpPr>
        <p:spPr/>
        <p:txBody>
          <a:bodyPr/>
          <a:lstStyle/>
          <a:p>
            <a:r>
              <a:rPr lang="en-US">
                <a:ea typeface="Calibri"/>
                <a:cs typeface="Calibri"/>
              </a:rPr>
              <a:t>PowerApps Collection Advantages</a:t>
            </a:r>
            <a:endParaRPr lang="en-US"/>
          </a:p>
        </p:txBody>
      </p:sp>
      <p:sp>
        <p:nvSpPr>
          <p:cNvPr id="3" name="Content Placeholder 2">
            <a:extLst>
              <a:ext uri="{FF2B5EF4-FFF2-40B4-BE49-F238E27FC236}">
                <a16:creationId xmlns:a16="http://schemas.microsoft.com/office/drawing/2014/main" id="{11918B29-4905-CD4D-E13F-73E2D7CA0F66}"/>
              </a:ext>
            </a:extLst>
          </p:cNvPr>
          <p:cNvSpPr>
            <a:spLocks noGrp="1"/>
          </p:cNvSpPr>
          <p:nvPr>
            <p:ph idx="1"/>
          </p:nvPr>
        </p:nvSpPr>
        <p:spPr/>
        <p:txBody>
          <a:bodyPr vert="horz" lIns="91440" tIns="45720" rIns="91440" bIns="45720" rtlCol="0" anchor="t">
            <a:normAutofit/>
          </a:bodyPr>
          <a:lstStyle/>
          <a:p>
            <a:r>
              <a:rPr lang="en-US" sz="1200" dirty="0">
                <a:solidFill>
                  <a:srgbClr val="333333"/>
                </a:solidFill>
                <a:highlight>
                  <a:srgbClr val="FFFFFF"/>
                </a:highlight>
                <a:latin typeface="Poppins"/>
                <a:cs typeface="Poppins"/>
              </a:rPr>
              <a:t>A collection can be created from the values in a SharePoint List, Excel Spreadsheet, SQL, CDS or any other </a:t>
            </a:r>
            <a:r>
              <a:rPr lang="en-US" sz="1200" dirty="0" err="1">
                <a:solidFill>
                  <a:srgbClr val="333333"/>
                </a:solidFill>
                <a:highlight>
                  <a:srgbClr val="FFFFFF"/>
                </a:highlight>
                <a:latin typeface="Poppins"/>
                <a:cs typeface="Poppins"/>
              </a:rPr>
              <a:t>datasource</a:t>
            </a:r>
            <a:r>
              <a:rPr lang="en-US" sz="1200" dirty="0">
                <a:solidFill>
                  <a:srgbClr val="333333"/>
                </a:solidFill>
                <a:highlight>
                  <a:srgbClr val="FFFFFF"/>
                </a:highlight>
                <a:latin typeface="Poppins"/>
                <a:cs typeface="Poppins"/>
              </a:rPr>
              <a:t>, Manually with static data.</a:t>
            </a:r>
            <a:br>
              <a:rPr lang="en-US" sz="1200" dirty="0">
                <a:solidFill>
                  <a:srgbClr val="333333"/>
                </a:solidFill>
                <a:highlight>
                  <a:srgbClr val="FFFFFF"/>
                </a:highlight>
                <a:latin typeface="Poppins"/>
                <a:cs typeface="Poppins"/>
              </a:rPr>
            </a:br>
            <a:endParaRPr lang="en-US" sz="1200" dirty="0">
              <a:solidFill>
                <a:srgbClr val="333333"/>
              </a:solidFill>
              <a:highlight>
                <a:srgbClr val="FFFFFF"/>
              </a:highlight>
              <a:latin typeface="Poppins"/>
              <a:cs typeface="Poppins"/>
            </a:endParaRPr>
          </a:p>
          <a:p>
            <a:r>
              <a:rPr lang="en-US" sz="1200">
                <a:solidFill>
                  <a:srgbClr val="333333"/>
                </a:solidFill>
                <a:highlight>
                  <a:srgbClr val="FFFFFF"/>
                </a:highlight>
                <a:latin typeface="Poppins"/>
                <a:cs typeface="Poppins"/>
              </a:rPr>
              <a:t>Collections only exist while an app is running. When the app is closed the data stored in a collection no longer exists.</a:t>
            </a:r>
            <a:br>
              <a:rPr lang="en-US" sz="1200" dirty="0">
                <a:solidFill>
                  <a:srgbClr val="333333"/>
                </a:solidFill>
                <a:highlight>
                  <a:srgbClr val="FFFFFF"/>
                </a:highlight>
                <a:latin typeface="Poppins"/>
                <a:cs typeface="Poppins"/>
              </a:rPr>
            </a:br>
            <a:endParaRPr lang="en-US" sz="1200" dirty="0">
              <a:solidFill>
                <a:srgbClr val="333333"/>
              </a:solidFill>
              <a:highlight>
                <a:srgbClr val="FFFFFF"/>
              </a:highlight>
              <a:latin typeface="Poppins"/>
              <a:cs typeface="Poppins"/>
            </a:endParaRPr>
          </a:p>
          <a:p>
            <a:r>
              <a:rPr lang="en-US" sz="1200" dirty="0">
                <a:solidFill>
                  <a:srgbClr val="333333"/>
                </a:solidFill>
                <a:highlight>
                  <a:srgbClr val="FFFFFF"/>
                </a:highlight>
                <a:latin typeface="Poppins"/>
                <a:cs typeface="Poppins"/>
              </a:rPr>
              <a:t>Rows from a collection can be inserted back into the original </a:t>
            </a:r>
            <a:r>
              <a:rPr lang="en-US" sz="1200" dirty="0" err="1">
                <a:solidFill>
                  <a:srgbClr val="333333"/>
                </a:solidFill>
                <a:highlight>
                  <a:srgbClr val="FFFFFF"/>
                </a:highlight>
                <a:latin typeface="Poppins"/>
                <a:cs typeface="Poppins"/>
              </a:rPr>
              <a:t>datasource</a:t>
            </a:r>
            <a:r>
              <a:rPr lang="en-US" sz="1200" dirty="0">
                <a:solidFill>
                  <a:srgbClr val="333333"/>
                </a:solidFill>
                <a:highlight>
                  <a:srgbClr val="FFFFFF"/>
                </a:highlight>
                <a:latin typeface="Poppins"/>
                <a:cs typeface="Poppins"/>
              </a:rPr>
              <a:t> to change its values</a:t>
            </a:r>
            <a:br>
              <a:rPr lang="en-US" sz="1200" dirty="0">
                <a:solidFill>
                  <a:srgbClr val="333333"/>
                </a:solidFill>
                <a:highlight>
                  <a:srgbClr val="FFFFFF"/>
                </a:highlight>
                <a:latin typeface="Poppins"/>
                <a:cs typeface="Poppins"/>
              </a:rPr>
            </a:br>
            <a:endParaRPr lang="en-US" sz="1200" dirty="0">
              <a:solidFill>
                <a:srgbClr val="333333"/>
              </a:solidFill>
              <a:highlight>
                <a:srgbClr val="FFFFFF"/>
              </a:highlight>
              <a:latin typeface="Poppins"/>
              <a:cs typeface="Poppins"/>
            </a:endParaRPr>
          </a:p>
          <a:p>
            <a:r>
              <a:rPr lang="en-US" sz="1200" dirty="0">
                <a:solidFill>
                  <a:srgbClr val="333333"/>
                </a:solidFill>
                <a:highlight>
                  <a:srgbClr val="FFFFFF"/>
                </a:highlight>
                <a:latin typeface="Poppins"/>
                <a:cs typeface="Poppins"/>
              </a:rPr>
              <a:t>Galleries, Forms and Data Tables can use a collection as the </a:t>
            </a:r>
            <a:r>
              <a:rPr lang="en-US" sz="1200" dirty="0" err="1">
                <a:solidFill>
                  <a:srgbClr val="333333"/>
                </a:solidFill>
                <a:highlight>
                  <a:srgbClr val="FFFFFF"/>
                </a:highlight>
                <a:latin typeface="Poppins"/>
                <a:cs typeface="Poppins"/>
              </a:rPr>
              <a:t>datasource</a:t>
            </a:r>
            <a:br>
              <a:rPr lang="en-US" sz="1200" dirty="0">
                <a:solidFill>
                  <a:srgbClr val="333333"/>
                </a:solidFill>
                <a:highlight>
                  <a:srgbClr val="FFFFFF"/>
                </a:highlight>
                <a:latin typeface="Poppins"/>
                <a:cs typeface="Poppins"/>
              </a:rPr>
            </a:br>
            <a:endParaRPr lang="en-US" sz="1200" dirty="0">
              <a:solidFill>
                <a:srgbClr val="333333"/>
              </a:solidFill>
              <a:highlight>
                <a:srgbClr val="FFFFFF"/>
              </a:highlight>
              <a:latin typeface="Poppins"/>
              <a:cs typeface="Poppins"/>
            </a:endParaRPr>
          </a:p>
          <a:p>
            <a:r>
              <a:rPr lang="en-US" sz="1200" dirty="0">
                <a:solidFill>
                  <a:srgbClr val="333333"/>
                </a:solidFill>
                <a:highlight>
                  <a:srgbClr val="FFFFFF"/>
                </a:highlight>
                <a:latin typeface="Poppins"/>
                <a:cs typeface="Poppins"/>
              </a:rPr>
              <a:t>Using collections as a </a:t>
            </a:r>
            <a:r>
              <a:rPr lang="en-US" sz="1200" dirty="0" err="1">
                <a:solidFill>
                  <a:srgbClr val="333333"/>
                </a:solidFill>
                <a:highlight>
                  <a:srgbClr val="FFFFFF"/>
                </a:highlight>
                <a:latin typeface="Poppins"/>
                <a:cs typeface="Poppins"/>
              </a:rPr>
              <a:t>datasource</a:t>
            </a:r>
            <a:r>
              <a:rPr lang="en-US" sz="1200" dirty="0">
                <a:solidFill>
                  <a:srgbClr val="333333"/>
                </a:solidFill>
                <a:highlight>
                  <a:srgbClr val="FFFFFF"/>
                </a:highlight>
                <a:latin typeface="Poppins"/>
                <a:cs typeface="Poppins"/>
              </a:rPr>
              <a:t> can reduce loading times because data is stored on the local device rather than in the cloud.</a:t>
            </a:r>
            <a:br>
              <a:rPr lang="en-US" sz="1200" dirty="0">
                <a:solidFill>
                  <a:srgbClr val="333333"/>
                </a:solidFill>
                <a:highlight>
                  <a:srgbClr val="FFFFFF"/>
                </a:highlight>
                <a:latin typeface="Poppins"/>
                <a:cs typeface="Poppins"/>
              </a:rPr>
            </a:br>
            <a:endParaRPr lang="en-US" sz="1200" dirty="0">
              <a:solidFill>
                <a:srgbClr val="333333"/>
              </a:solidFill>
              <a:highlight>
                <a:srgbClr val="FFFFFF"/>
              </a:highlight>
              <a:latin typeface="Poppins"/>
              <a:cs typeface="Poppins"/>
            </a:endParaRPr>
          </a:p>
          <a:p>
            <a:r>
              <a:rPr lang="en-US" sz="1200">
                <a:solidFill>
                  <a:srgbClr val="333333"/>
                </a:solidFill>
                <a:highlight>
                  <a:srgbClr val="FFFFFF"/>
                </a:highlight>
                <a:latin typeface="Poppins"/>
                <a:cs typeface="Poppins"/>
              </a:rPr>
              <a:t>Once a collection is created it can be accessed from any screen.</a:t>
            </a:r>
            <a:endParaRPr lang="en-US"/>
          </a:p>
          <a:p>
            <a:endParaRPr lang="en-US" dirty="0">
              <a:ea typeface="Calibri"/>
              <a:cs typeface="Calibri"/>
            </a:endParaRPr>
          </a:p>
        </p:txBody>
      </p:sp>
    </p:spTree>
    <p:extLst>
      <p:ext uri="{BB962C8B-B14F-4D97-AF65-F5344CB8AC3E}">
        <p14:creationId xmlns:p14="http://schemas.microsoft.com/office/powerpoint/2010/main" val="690396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33198-4FB2-ABEC-E4C4-C20B06F1E28E}"/>
              </a:ext>
            </a:extLst>
          </p:cNvPr>
          <p:cNvSpPr>
            <a:spLocks noGrp="1"/>
          </p:cNvSpPr>
          <p:nvPr>
            <p:ph type="title"/>
          </p:nvPr>
        </p:nvSpPr>
        <p:spPr/>
        <p:txBody>
          <a:bodyPr/>
          <a:lstStyle/>
          <a:p>
            <a:r>
              <a:rPr lang="en-US" dirty="0">
                <a:ea typeface="Calibri"/>
                <a:cs typeface="Calibri"/>
              </a:rPr>
              <a:t>Collect Vs </a:t>
            </a:r>
            <a:r>
              <a:rPr lang="en-US" dirty="0" err="1">
                <a:ea typeface="Calibri"/>
                <a:cs typeface="Calibri"/>
              </a:rPr>
              <a:t>ClearCollect</a:t>
            </a:r>
            <a:r>
              <a:rPr lang="en-US" dirty="0">
                <a:ea typeface="Calibri"/>
                <a:cs typeface="Calibri"/>
              </a:rPr>
              <a:t> Vs Clear</a:t>
            </a:r>
            <a:endParaRPr lang="en-US" dirty="0"/>
          </a:p>
        </p:txBody>
      </p:sp>
      <p:sp>
        <p:nvSpPr>
          <p:cNvPr id="3" name="Content Placeholder 2">
            <a:extLst>
              <a:ext uri="{FF2B5EF4-FFF2-40B4-BE49-F238E27FC236}">
                <a16:creationId xmlns:a16="http://schemas.microsoft.com/office/drawing/2014/main" id="{0B8B9C7B-4A6E-4748-024E-B56814E2B254}"/>
              </a:ext>
            </a:extLst>
          </p:cNvPr>
          <p:cNvSpPr>
            <a:spLocks noGrp="1"/>
          </p:cNvSpPr>
          <p:nvPr>
            <p:ph idx="1"/>
          </p:nvPr>
        </p:nvSpPr>
        <p:spPr/>
        <p:txBody>
          <a:bodyPr vert="horz" lIns="91440" tIns="45720" rIns="91440" bIns="45720" rtlCol="0" anchor="t">
            <a:normAutofit fontScale="92500" lnSpcReduction="10000"/>
          </a:bodyPr>
          <a:lstStyle/>
          <a:p>
            <a:r>
              <a:rPr lang="en-US" sz="1200">
                <a:latin typeface="Segoe UI"/>
                <a:cs typeface="Segoe UI"/>
              </a:rPr>
              <a:t>Collect():</a:t>
            </a:r>
            <a:endParaRPr lang="en-US" sz="1200">
              <a:ea typeface="Calibri"/>
              <a:cs typeface="Calibri"/>
            </a:endParaRPr>
          </a:p>
          <a:p>
            <a:endParaRPr lang="en-US" sz="1200" dirty="0">
              <a:latin typeface="Segoe UI"/>
              <a:ea typeface="+mn-lt"/>
              <a:cs typeface="Segoe UI"/>
            </a:endParaRPr>
          </a:p>
          <a:p>
            <a:r>
              <a:rPr lang="en-US" sz="1100">
                <a:latin typeface="Segoe UI"/>
                <a:ea typeface="+mn-lt"/>
                <a:cs typeface="Segoe UI"/>
              </a:rPr>
              <a:t>Adds new records to a collection </a:t>
            </a:r>
            <a:r>
              <a:rPr lang="en-US" sz="1100" b="1">
                <a:latin typeface="Segoe UI"/>
                <a:ea typeface="+mn-lt"/>
                <a:cs typeface="Segoe UI"/>
              </a:rPr>
              <a:t>without removing existing data</a:t>
            </a:r>
            <a:r>
              <a:rPr lang="en-US" sz="1100">
                <a:latin typeface="Segoe UI"/>
                <a:ea typeface="+mn-lt"/>
                <a:cs typeface="Segoe UI"/>
              </a:rPr>
              <a:t>.</a:t>
            </a:r>
            <a:endParaRPr lang="en-US" sz="1100" dirty="0">
              <a:latin typeface="Segoe UI"/>
              <a:ea typeface="+mn-lt"/>
              <a:cs typeface="Segoe UI"/>
            </a:endParaRPr>
          </a:p>
          <a:p>
            <a:endParaRPr lang="en-US" sz="1100" dirty="0">
              <a:latin typeface="Segoe UI"/>
              <a:ea typeface="+mn-lt"/>
              <a:cs typeface="Segoe UI"/>
            </a:endParaRPr>
          </a:p>
          <a:p>
            <a:r>
              <a:rPr lang="en-US" sz="1100">
                <a:ea typeface="+mn-lt"/>
                <a:cs typeface="+mn-lt"/>
              </a:rPr>
              <a:t>Collect(</a:t>
            </a:r>
            <a:endParaRPr lang="en-US" sz="1100" dirty="0">
              <a:latin typeface="Segoe UI"/>
              <a:ea typeface="Calibri"/>
              <a:cs typeface="Segoe UI"/>
            </a:endParaRPr>
          </a:p>
          <a:p>
            <a:r>
              <a:rPr lang="en-US" sz="1100">
                <a:ea typeface="+mn-lt"/>
                <a:cs typeface="+mn-lt"/>
              </a:rPr>
              <a:t>    EmployeeList,</a:t>
            </a:r>
            <a:endParaRPr lang="en-US"/>
          </a:p>
          <a:p>
            <a:r>
              <a:rPr lang="en-US" sz="1100">
                <a:ea typeface="+mn-lt"/>
                <a:cs typeface="+mn-lt"/>
              </a:rPr>
              <a:t>    { ID: 1, Name: "Ravi", Dept: "IT" }</a:t>
            </a:r>
            <a:endParaRPr lang="en-US"/>
          </a:p>
          <a:p>
            <a:r>
              <a:rPr lang="en-US" sz="1100">
                <a:ea typeface="+mn-lt"/>
                <a:cs typeface="+mn-lt"/>
              </a:rPr>
              <a:t>);</a:t>
            </a:r>
            <a:endParaRPr lang="en-US"/>
          </a:p>
          <a:p>
            <a:r>
              <a:rPr lang="en-US" sz="1100" dirty="0">
                <a:latin typeface="Segoe UI"/>
                <a:ea typeface="Calibri"/>
                <a:cs typeface="Segoe UI"/>
              </a:rPr>
              <a:t>✔ Adds a record to </a:t>
            </a:r>
            <a:r>
              <a:rPr lang="en-US" sz="1100" b="1" dirty="0" err="1">
                <a:latin typeface="Segoe UI"/>
                <a:ea typeface="Calibri"/>
                <a:cs typeface="Segoe UI"/>
              </a:rPr>
              <a:t>EmployeeList</a:t>
            </a:r>
            <a:br>
              <a:rPr lang="en-US" sz="1100" b="1" dirty="0">
                <a:latin typeface="Segoe UI"/>
                <a:ea typeface="Calibri"/>
                <a:cs typeface="Segoe UI"/>
              </a:rPr>
            </a:br>
            <a:r>
              <a:rPr lang="en-US" sz="1100" b="1" dirty="0">
                <a:latin typeface="Segoe UI"/>
                <a:ea typeface="Calibri"/>
                <a:cs typeface="Segoe UI"/>
              </a:rPr>
              <a:t> ✔ Existing records remain untouched</a:t>
            </a:r>
            <a:endParaRPr lang="en-US" sz="1100" dirty="0">
              <a:latin typeface="Calibri"/>
              <a:ea typeface="Calibri"/>
              <a:cs typeface="Calibri"/>
            </a:endParaRPr>
          </a:p>
          <a:p>
            <a:endParaRPr lang="en-US" sz="1100" dirty="0">
              <a:latin typeface="Calibri"/>
              <a:ea typeface="Calibri"/>
              <a:cs typeface="Calibri"/>
            </a:endParaRPr>
          </a:p>
          <a:p>
            <a:endParaRPr lang="en-US" sz="1100" dirty="0">
              <a:latin typeface="Segoe UI"/>
              <a:ea typeface="Calibri"/>
              <a:cs typeface="Segoe UI"/>
            </a:endParaRPr>
          </a:p>
          <a:p>
            <a:r>
              <a:rPr lang="en-US" sz="1400">
                <a:latin typeface="Segoe UI"/>
                <a:ea typeface="Calibri"/>
                <a:cs typeface="Segoe UI"/>
              </a:rPr>
              <a:t>Clear()</a:t>
            </a:r>
            <a:endParaRPr lang="en-US" sz="1400" dirty="0">
              <a:latin typeface="Segoe UI"/>
              <a:ea typeface="Calibri"/>
              <a:cs typeface="Segoe UI"/>
            </a:endParaRPr>
          </a:p>
          <a:p>
            <a:r>
              <a:rPr lang="en-US" sz="1100" b="1">
                <a:latin typeface="Segoe UI"/>
                <a:ea typeface="Calibri"/>
                <a:cs typeface="Segoe UI"/>
              </a:rPr>
              <a:t>Removes all records</a:t>
            </a:r>
            <a:r>
              <a:rPr lang="en-US" sz="1100">
                <a:latin typeface="Segoe UI"/>
                <a:ea typeface="Calibri"/>
                <a:cs typeface="Segoe UI"/>
              </a:rPr>
              <a:t> from a collection</a:t>
            </a:r>
            <a:endParaRPr lang="en-US" sz="1100" dirty="0">
              <a:latin typeface="Segoe UI"/>
              <a:ea typeface="Calibri"/>
              <a:cs typeface="Segoe UI"/>
            </a:endParaRPr>
          </a:p>
          <a:p>
            <a:endParaRPr lang="en-US" sz="1100" dirty="0">
              <a:latin typeface="Segoe UI"/>
              <a:ea typeface="Calibri"/>
              <a:cs typeface="Segoe UI"/>
            </a:endParaRPr>
          </a:p>
          <a:p>
            <a:r>
              <a:rPr lang="en-US" sz="1100" dirty="0">
                <a:ea typeface="+mn-lt"/>
                <a:cs typeface="+mn-lt"/>
              </a:rPr>
              <a:t>Clear(</a:t>
            </a:r>
            <a:r>
              <a:rPr lang="en-US" sz="1100" dirty="0" err="1">
                <a:ea typeface="+mn-lt"/>
                <a:cs typeface="+mn-lt"/>
              </a:rPr>
              <a:t>EmployeeList</a:t>
            </a:r>
            <a:r>
              <a:rPr lang="en-US" sz="1100" dirty="0">
                <a:ea typeface="+mn-lt"/>
                <a:cs typeface="+mn-lt"/>
              </a:rPr>
              <a:t>);</a:t>
            </a:r>
            <a:endParaRPr lang="en-US" sz="1100" dirty="0">
              <a:latin typeface="Segoe UI"/>
              <a:ea typeface="Calibri"/>
              <a:cs typeface="Segoe UI"/>
            </a:endParaRPr>
          </a:p>
          <a:p>
            <a:endParaRPr lang="en-US" sz="1100" dirty="0">
              <a:ea typeface="Calibri"/>
              <a:cs typeface="Calibri"/>
            </a:endParaRPr>
          </a:p>
          <a:p>
            <a:r>
              <a:rPr lang="en-US" sz="1100" dirty="0" err="1">
                <a:latin typeface="Segoe UI"/>
                <a:ea typeface="Calibri"/>
                <a:cs typeface="Segoe UI"/>
              </a:rPr>
              <a:t>ClearCollect</a:t>
            </a:r>
            <a:r>
              <a:rPr lang="en-US" sz="1100" dirty="0">
                <a:latin typeface="Segoe UI"/>
                <a:ea typeface="Calibri"/>
                <a:cs typeface="Segoe UI"/>
              </a:rPr>
              <a:t>()</a:t>
            </a:r>
            <a:endParaRPr lang="en-US" sz="1100" dirty="0">
              <a:ea typeface="Calibri"/>
              <a:cs typeface="Calibri"/>
            </a:endParaRPr>
          </a:p>
          <a:p>
            <a:endParaRPr lang="en-US" sz="1100" dirty="0">
              <a:latin typeface="Segoe UI"/>
              <a:ea typeface="Calibri"/>
              <a:cs typeface="Segoe UI"/>
            </a:endParaRPr>
          </a:p>
          <a:p>
            <a:r>
              <a:rPr lang="en-US" sz="1100" b="1">
                <a:latin typeface="Segoe UI"/>
                <a:ea typeface="Calibri"/>
                <a:cs typeface="Segoe UI"/>
              </a:rPr>
              <a:t>Clears the collection</a:t>
            </a:r>
            <a:r>
              <a:rPr lang="en-US" sz="1100">
                <a:latin typeface="Segoe UI"/>
                <a:ea typeface="Calibri"/>
                <a:cs typeface="Segoe UI"/>
              </a:rPr>
              <a:t> → then </a:t>
            </a:r>
            <a:r>
              <a:rPr lang="en-US" sz="1100" b="1">
                <a:latin typeface="Segoe UI"/>
                <a:ea typeface="Calibri"/>
                <a:cs typeface="Segoe UI"/>
              </a:rPr>
              <a:t>adds new records</a:t>
            </a:r>
            <a:r>
              <a:rPr lang="en-US" sz="1100">
                <a:latin typeface="Segoe UI"/>
                <a:ea typeface="Calibri"/>
                <a:cs typeface="Segoe UI"/>
              </a:rPr>
              <a:t> in a single step.</a:t>
            </a:r>
            <a:br>
              <a:rPr lang="en-US" sz="1100" dirty="0">
                <a:latin typeface="Segoe UI"/>
                <a:ea typeface="Calibri"/>
                <a:cs typeface="Segoe UI"/>
              </a:rPr>
            </a:br>
            <a:r>
              <a:rPr lang="en-US" sz="1100">
                <a:latin typeface="Segoe UI"/>
                <a:ea typeface="Calibri"/>
                <a:cs typeface="Segoe UI"/>
              </a:rPr>
              <a:t> Most commonly used in apps.</a:t>
            </a:r>
            <a:endParaRPr lang="en-US" sz="1100" dirty="0">
              <a:ea typeface="Calibri"/>
              <a:cs typeface="Calibri"/>
            </a:endParaRPr>
          </a:p>
          <a:p>
            <a:r>
              <a:rPr lang="en-US" sz="1100">
                <a:ea typeface="+mn-lt"/>
                <a:cs typeface="+mn-lt"/>
              </a:rPr>
              <a:t>ClearCollect(</a:t>
            </a:r>
            <a:endParaRPr lang="en-US" sz="1100" dirty="0">
              <a:ea typeface="Calibri"/>
              <a:cs typeface="Calibri"/>
            </a:endParaRPr>
          </a:p>
          <a:p>
            <a:r>
              <a:rPr lang="en-US" sz="1100">
                <a:ea typeface="+mn-lt"/>
                <a:cs typeface="+mn-lt"/>
              </a:rPr>
              <a:t>    EmployeeList,</a:t>
            </a:r>
            <a:endParaRPr lang="en-US"/>
          </a:p>
          <a:p>
            <a:r>
              <a:rPr lang="en-US" sz="1100">
                <a:ea typeface="+mn-lt"/>
                <a:cs typeface="+mn-lt"/>
              </a:rPr>
              <a:t>    { ID: 1, Name: "Ravi" },</a:t>
            </a:r>
            <a:endParaRPr lang="en-US"/>
          </a:p>
          <a:p>
            <a:r>
              <a:rPr lang="en-US" sz="1100">
                <a:ea typeface="+mn-lt"/>
                <a:cs typeface="+mn-lt"/>
              </a:rPr>
              <a:t>    { ID: 2, Name: "shankar" }</a:t>
            </a:r>
            <a:endParaRPr lang="en-US"/>
          </a:p>
          <a:p>
            <a:r>
              <a:rPr lang="en-US" sz="1100">
                <a:ea typeface="+mn-lt"/>
                <a:cs typeface="+mn-lt"/>
              </a:rPr>
              <a:t>);</a:t>
            </a:r>
            <a:endParaRPr lang="en-US"/>
          </a:p>
          <a:p>
            <a:endParaRPr lang="en-US" sz="1100" dirty="0">
              <a:ea typeface="Calibri"/>
              <a:cs typeface="Calibri"/>
            </a:endParaRPr>
          </a:p>
          <a:p>
            <a:endParaRPr lang="en-US" sz="1100"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39340066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86FE0-2928-1515-62CD-788B36EDF06E}"/>
              </a:ext>
            </a:extLst>
          </p:cNvPr>
          <p:cNvSpPr>
            <a:spLocks noGrp="1"/>
          </p:cNvSpPr>
          <p:nvPr>
            <p:ph type="title"/>
          </p:nvPr>
        </p:nvSpPr>
        <p:spPr/>
        <p:txBody>
          <a:bodyPr/>
          <a:lstStyle/>
          <a:p>
            <a:r>
              <a:rPr lang="en-US">
                <a:ea typeface="Calibri"/>
                <a:cs typeface="Calibri"/>
              </a:rPr>
              <a:t>Types of PowerApps Variables</a:t>
            </a:r>
            <a:endParaRPr lang="en-US"/>
          </a:p>
        </p:txBody>
      </p:sp>
      <p:sp>
        <p:nvSpPr>
          <p:cNvPr id="3" name="Content Placeholder 2">
            <a:extLst>
              <a:ext uri="{FF2B5EF4-FFF2-40B4-BE49-F238E27FC236}">
                <a16:creationId xmlns:a16="http://schemas.microsoft.com/office/drawing/2014/main" id="{EC4AB75F-7091-49E6-F911-E3CA47E9BA1C}"/>
              </a:ext>
            </a:extLst>
          </p:cNvPr>
          <p:cNvSpPr>
            <a:spLocks noGrp="1"/>
          </p:cNvSpPr>
          <p:nvPr>
            <p:ph idx="1"/>
          </p:nvPr>
        </p:nvSpPr>
        <p:spPr/>
        <p:txBody>
          <a:bodyPr vert="horz" lIns="91440" tIns="45720" rIns="91440" bIns="45720" rtlCol="0" anchor="t">
            <a:normAutofit/>
          </a:bodyPr>
          <a:lstStyle/>
          <a:p>
            <a:r>
              <a:rPr lang="en-US" sz="1700">
                <a:highlight>
                  <a:srgbClr val="FFFFFF"/>
                </a:highlight>
                <a:latin typeface="Open Sans"/>
                <a:ea typeface="Open Sans"/>
                <a:cs typeface="Open Sans"/>
              </a:rPr>
              <a:t>Understanding Variables</a:t>
            </a:r>
          </a:p>
          <a:p>
            <a:r>
              <a:rPr lang="en-US" sz="1400">
                <a:highlight>
                  <a:srgbClr val="FFFFFF"/>
                </a:highlight>
                <a:ea typeface="+mn-lt"/>
                <a:cs typeface="+mn-lt"/>
              </a:rPr>
              <a:t>A variable in the context of Power Apps is a storage location that temporarily holds data while the app is running</a:t>
            </a:r>
          </a:p>
          <a:p>
            <a:r>
              <a:rPr lang="en-US" sz="1400">
                <a:highlight>
                  <a:srgbClr val="FFFFFF"/>
                </a:highlight>
                <a:ea typeface="+mn-lt"/>
                <a:cs typeface="+mn-lt"/>
              </a:rPr>
              <a:t>Think of a variable as a labeled container where you can store a piece of information that you might need to reference or manipulate later.</a:t>
            </a:r>
          </a:p>
          <a:p>
            <a:endParaRPr lang="en-US" sz="1400" dirty="0">
              <a:highlight>
                <a:srgbClr val="FFFFFF"/>
              </a:highlight>
              <a:latin typeface="Calibri"/>
              <a:ea typeface="Calibri"/>
              <a:cs typeface="Calibri"/>
            </a:endParaRPr>
          </a:p>
          <a:p>
            <a:r>
              <a:rPr lang="en-US" sz="1700">
                <a:latin typeface="Open Sans"/>
                <a:ea typeface="Open Sans"/>
                <a:cs typeface="Open Sans"/>
              </a:rPr>
              <a:t>Types of Data Stored in Variables:</a:t>
            </a:r>
            <a:endParaRPr lang="en-US" sz="1400" dirty="0">
              <a:highlight>
                <a:srgbClr val="FFFFFF"/>
              </a:highlight>
              <a:latin typeface="Calibri"/>
              <a:ea typeface="Calibri"/>
              <a:cs typeface="Calibri"/>
            </a:endParaRPr>
          </a:p>
          <a:p>
            <a:r>
              <a:rPr lang="en-US" sz="1400" dirty="0">
                <a:highlight>
                  <a:srgbClr val="FFFFFF"/>
                </a:highlight>
                <a:ea typeface="+mn-lt"/>
                <a:cs typeface="+mn-lt"/>
              </a:rPr>
              <a:t>Variables can store various types of data, including:</a:t>
            </a:r>
            <a:endParaRPr lang="en-US" dirty="0"/>
          </a:p>
          <a:p>
            <a:r>
              <a:rPr lang="en-US" sz="1400" b="1">
                <a:highlight>
                  <a:srgbClr val="FFFFFF"/>
                </a:highlight>
                <a:ea typeface="+mn-lt"/>
                <a:cs typeface="+mn-lt"/>
              </a:rPr>
              <a:t>Text</a:t>
            </a:r>
            <a:r>
              <a:rPr lang="en-US" sz="1400">
                <a:highlight>
                  <a:srgbClr val="FFFFFF"/>
                </a:highlight>
                <a:ea typeface="+mn-lt"/>
                <a:cs typeface="+mn-lt"/>
              </a:rPr>
              <a:t>: Strings of characters, such as names or messages.</a:t>
            </a:r>
            <a:endParaRPr lang="en-US"/>
          </a:p>
          <a:p>
            <a:r>
              <a:rPr lang="en-US" sz="1400" b="1">
                <a:highlight>
                  <a:srgbClr val="FFFFFF"/>
                </a:highlight>
                <a:ea typeface="+mn-lt"/>
                <a:cs typeface="+mn-lt"/>
              </a:rPr>
              <a:t>Numbers</a:t>
            </a:r>
            <a:r>
              <a:rPr lang="en-US" sz="1400">
                <a:highlight>
                  <a:srgbClr val="FFFFFF"/>
                </a:highlight>
                <a:ea typeface="+mn-lt"/>
                <a:cs typeface="+mn-lt"/>
              </a:rPr>
              <a:t>: Numerical values for calculations or counters.</a:t>
            </a:r>
            <a:endParaRPr lang="en-US"/>
          </a:p>
          <a:p>
            <a:r>
              <a:rPr lang="en-US" sz="1400" b="1">
                <a:highlight>
                  <a:srgbClr val="FFFFFF"/>
                </a:highlight>
                <a:ea typeface="+mn-lt"/>
                <a:cs typeface="+mn-lt"/>
              </a:rPr>
              <a:t>Booleans</a:t>
            </a:r>
            <a:r>
              <a:rPr lang="en-US" sz="1400">
                <a:highlight>
                  <a:srgbClr val="FFFFFF"/>
                </a:highlight>
                <a:ea typeface="+mn-lt"/>
                <a:cs typeface="+mn-lt"/>
              </a:rPr>
              <a:t>: True or false values for conditions.</a:t>
            </a:r>
            <a:endParaRPr lang="en-US"/>
          </a:p>
          <a:p>
            <a:r>
              <a:rPr lang="en-US" sz="1400" b="1" dirty="0">
                <a:highlight>
                  <a:srgbClr val="FFFFFF"/>
                </a:highlight>
                <a:ea typeface="+mn-lt"/>
                <a:cs typeface="+mn-lt"/>
              </a:rPr>
              <a:t>Records</a:t>
            </a:r>
            <a:r>
              <a:rPr lang="en-US" sz="1400" dirty="0">
                <a:highlight>
                  <a:srgbClr val="FFFFFF"/>
                </a:highlight>
                <a:ea typeface="+mn-lt"/>
                <a:cs typeface="+mn-lt"/>
              </a:rPr>
              <a:t>: Structured data that can contain multiple fields, like a database row.</a:t>
            </a:r>
            <a:endParaRPr lang="en-US" dirty="0"/>
          </a:p>
          <a:p>
            <a:r>
              <a:rPr lang="en-US" sz="1400" b="1" dirty="0">
                <a:highlight>
                  <a:srgbClr val="FFFFFF"/>
                </a:highlight>
                <a:ea typeface="+mn-lt"/>
                <a:cs typeface="+mn-lt"/>
              </a:rPr>
              <a:t>Tables</a:t>
            </a:r>
            <a:r>
              <a:rPr lang="en-US" sz="1400" dirty="0">
                <a:highlight>
                  <a:srgbClr val="FFFFFF"/>
                </a:highlight>
                <a:ea typeface="+mn-lt"/>
                <a:cs typeface="+mn-lt"/>
              </a:rPr>
              <a:t>: Collections of records, similar to a spreadsheet.</a:t>
            </a:r>
            <a:endParaRPr lang="en-US" dirty="0"/>
          </a:p>
          <a:p>
            <a:endParaRPr lang="en-US" sz="1400" dirty="0">
              <a:highlight>
                <a:srgbClr val="FFFFFF"/>
              </a:highlight>
              <a:latin typeface="Calibri"/>
              <a:ea typeface="Calibri"/>
              <a:cs typeface="Calibri"/>
            </a:endParaRPr>
          </a:p>
        </p:txBody>
      </p:sp>
    </p:spTree>
    <p:extLst>
      <p:ext uri="{BB962C8B-B14F-4D97-AF65-F5344CB8AC3E}">
        <p14:creationId xmlns:p14="http://schemas.microsoft.com/office/powerpoint/2010/main" val="3657371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7C240-C018-79B1-04EE-04932D8A3CE6}"/>
              </a:ext>
            </a:extLst>
          </p:cNvPr>
          <p:cNvSpPr>
            <a:spLocks noGrp="1"/>
          </p:cNvSpPr>
          <p:nvPr>
            <p:ph type="title"/>
          </p:nvPr>
        </p:nvSpPr>
        <p:spPr/>
        <p:txBody>
          <a:bodyPr/>
          <a:lstStyle/>
          <a:p>
            <a:r>
              <a:rPr lang="en-US" sz="1700">
                <a:highlight>
                  <a:srgbClr val="FFFFFF"/>
                </a:highlight>
                <a:latin typeface="Open Sans"/>
                <a:ea typeface="Open Sans"/>
                <a:cs typeface="Open Sans"/>
              </a:rPr>
              <a:t>Importance of Variables in Power Apps</a:t>
            </a:r>
            <a:endParaRPr lang="en-US"/>
          </a:p>
        </p:txBody>
      </p:sp>
      <p:sp>
        <p:nvSpPr>
          <p:cNvPr id="3" name="Content Placeholder 2">
            <a:extLst>
              <a:ext uri="{FF2B5EF4-FFF2-40B4-BE49-F238E27FC236}">
                <a16:creationId xmlns:a16="http://schemas.microsoft.com/office/drawing/2014/main" id="{79F8F746-5E68-8889-E781-683038F6F528}"/>
              </a:ext>
            </a:extLst>
          </p:cNvPr>
          <p:cNvSpPr>
            <a:spLocks noGrp="1"/>
          </p:cNvSpPr>
          <p:nvPr>
            <p:ph idx="1"/>
          </p:nvPr>
        </p:nvSpPr>
        <p:spPr/>
        <p:txBody>
          <a:bodyPr vert="horz" lIns="91440" tIns="45720" rIns="91440" bIns="45720" rtlCol="0" anchor="t">
            <a:normAutofit/>
          </a:bodyPr>
          <a:lstStyle/>
          <a:p>
            <a:endParaRPr lang="en-US" sz="1400" b="1" dirty="0">
              <a:highlight>
                <a:srgbClr val="FFFFFF"/>
              </a:highlight>
              <a:ea typeface="+mn-lt"/>
              <a:cs typeface="+mn-lt"/>
            </a:endParaRPr>
          </a:p>
          <a:p>
            <a:r>
              <a:rPr lang="en-US" sz="1400">
                <a:highlight>
                  <a:srgbClr val="FFFFFF"/>
                </a:highlight>
                <a:ea typeface="+mn-lt"/>
                <a:cs typeface="+mn-lt"/>
              </a:rPr>
              <a:t>Variables are crucial in Power Apps for several reasons:</a:t>
            </a:r>
            <a:endParaRPr lang="en-US" sz="1400" b="1" dirty="0">
              <a:highlight>
                <a:srgbClr val="FFFFFF"/>
              </a:highlight>
              <a:ea typeface="+mn-lt"/>
              <a:cs typeface="+mn-lt"/>
            </a:endParaRPr>
          </a:p>
          <a:p>
            <a:r>
              <a:rPr lang="en-US" sz="1400" b="1">
                <a:highlight>
                  <a:srgbClr val="FFFFFF"/>
                </a:highlight>
                <a:ea typeface="+mn-lt"/>
                <a:cs typeface="+mn-lt"/>
              </a:rPr>
              <a:t>Data Management</a:t>
            </a:r>
            <a:r>
              <a:rPr lang="en-US" sz="1400">
                <a:highlight>
                  <a:srgbClr val="FFFFFF"/>
                </a:highlight>
                <a:ea typeface="+mn-lt"/>
                <a:cs typeface="+mn-lt"/>
              </a:rPr>
              <a:t>: They allow you to store and manage data dynamically. For example, you can store user input in a variable and use it later in your app without having to fetch the data again from a data source.</a:t>
            </a:r>
            <a:endParaRPr lang="en-US">
              <a:ea typeface="Calibri"/>
              <a:cs typeface="Calibri"/>
            </a:endParaRPr>
          </a:p>
          <a:p>
            <a:r>
              <a:rPr lang="en-US" sz="1400" b="1" dirty="0">
                <a:highlight>
                  <a:srgbClr val="FFFFFF"/>
                </a:highlight>
                <a:ea typeface="+mn-lt"/>
                <a:cs typeface="+mn-lt"/>
              </a:rPr>
              <a:t>Improving Performance</a:t>
            </a:r>
            <a:r>
              <a:rPr lang="en-US" sz="1400" dirty="0">
                <a:highlight>
                  <a:srgbClr val="FFFFFF"/>
                </a:highlight>
                <a:ea typeface="+mn-lt"/>
                <a:cs typeface="+mn-lt"/>
              </a:rPr>
              <a:t>: By using variables to cache data, you can reduce the number of calls to data sources, which can significantly improve the performance of your app. This is especially important in apps that handle large amounts of data or need to operate efficiently on mobile devices.</a:t>
            </a:r>
            <a:endParaRPr lang="en-US" dirty="0"/>
          </a:p>
          <a:p>
            <a:r>
              <a:rPr lang="en-US" sz="1400" b="1">
                <a:highlight>
                  <a:srgbClr val="FFFFFF"/>
                </a:highlight>
                <a:ea typeface="+mn-lt"/>
                <a:cs typeface="+mn-lt"/>
              </a:rPr>
              <a:t>State Management</a:t>
            </a:r>
            <a:r>
              <a:rPr lang="en-US" sz="1400">
                <a:highlight>
                  <a:srgbClr val="FFFFFF"/>
                </a:highlight>
                <a:ea typeface="+mn-lt"/>
                <a:cs typeface="+mn-lt"/>
              </a:rPr>
              <a:t>: Variables help in managing the state of your application. For instance, you can use variables to keep track of whether a user is logged in, the current step in a multi-step form, or the visibility of certain UI elements.</a:t>
            </a:r>
            <a:endParaRPr lang="en-US"/>
          </a:p>
          <a:p>
            <a:r>
              <a:rPr lang="en-US" sz="1400" b="1">
                <a:highlight>
                  <a:srgbClr val="FFFFFF"/>
                </a:highlight>
                <a:ea typeface="+mn-lt"/>
                <a:cs typeface="+mn-lt"/>
              </a:rPr>
              <a:t>Conditional Logic</a:t>
            </a:r>
            <a:r>
              <a:rPr lang="en-US" sz="1400">
                <a:highlight>
                  <a:srgbClr val="FFFFFF"/>
                </a:highlight>
                <a:ea typeface="+mn-lt"/>
                <a:cs typeface="+mn-lt"/>
              </a:rPr>
              <a:t>: They enable you to implement complex conditional logic. You can use variables to store the results of conditional checks and then use those variables to control the flow of your application, such as showing or hiding elements based on user actions.</a:t>
            </a:r>
            <a:endParaRPr lang="en-US"/>
          </a:p>
          <a:p>
            <a:r>
              <a:rPr lang="en-US" sz="1400" b="1" dirty="0">
                <a:highlight>
                  <a:srgbClr val="FFFFFF"/>
                </a:highlight>
                <a:ea typeface="+mn-lt"/>
                <a:cs typeface="+mn-lt"/>
              </a:rPr>
              <a:t>Simplifying Code</a:t>
            </a:r>
            <a:r>
              <a:rPr lang="en-US" sz="1400" dirty="0">
                <a:highlight>
                  <a:srgbClr val="FFFFFF"/>
                </a:highlight>
                <a:ea typeface="+mn-lt"/>
                <a:cs typeface="+mn-lt"/>
              </a:rPr>
              <a:t>: By storing intermediate results in variables, you can simplify your formulas and make your code more readable and maintainable. This is particularly useful in complex calculations or when the same value needs to be used multiple times in different places.</a:t>
            </a:r>
            <a:endParaRPr lang="en-US" dirty="0"/>
          </a:p>
          <a:p>
            <a:endParaRPr lang="en-US" dirty="0">
              <a:ea typeface="Calibri"/>
              <a:cs typeface="Calibri"/>
            </a:endParaRPr>
          </a:p>
        </p:txBody>
      </p:sp>
    </p:spTree>
    <p:extLst>
      <p:ext uri="{BB962C8B-B14F-4D97-AF65-F5344CB8AC3E}">
        <p14:creationId xmlns:p14="http://schemas.microsoft.com/office/powerpoint/2010/main" val="11621318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8F01E-DD76-D966-384A-B23A1470FA9C}"/>
              </a:ext>
            </a:extLst>
          </p:cNvPr>
          <p:cNvSpPr>
            <a:spLocks noGrp="1"/>
          </p:cNvSpPr>
          <p:nvPr>
            <p:ph type="title"/>
          </p:nvPr>
        </p:nvSpPr>
        <p:spPr>
          <a:xfrm>
            <a:off x="457200" y="274638"/>
            <a:ext cx="8229600" cy="756634"/>
          </a:xfrm>
        </p:spPr>
        <p:txBody>
          <a:bodyPr/>
          <a:lstStyle/>
          <a:p>
            <a:pPr algn="l"/>
            <a:r>
              <a:rPr lang="en-US" sz="2500">
                <a:solidFill>
                  <a:srgbClr val="333333"/>
                </a:solidFill>
                <a:highlight>
                  <a:srgbClr val="FFFFFF"/>
                </a:highlight>
                <a:latin typeface="Poppins"/>
                <a:cs typeface="Poppins"/>
              </a:rPr>
              <a:t>Power Apps Standards: Variable Types</a:t>
            </a:r>
            <a:endParaRPr lang="en-US"/>
          </a:p>
          <a:p>
            <a:endParaRPr lang="en-US" dirty="0">
              <a:ea typeface="Calibri"/>
              <a:cs typeface="Calibri"/>
            </a:endParaRPr>
          </a:p>
        </p:txBody>
      </p:sp>
      <p:sp>
        <p:nvSpPr>
          <p:cNvPr id="3" name="Content Placeholder 2">
            <a:extLst>
              <a:ext uri="{FF2B5EF4-FFF2-40B4-BE49-F238E27FC236}">
                <a16:creationId xmlns:a16="http://schemas.microsoft.com/office/drawing/2014/main" id="{D67BC693-0704-CD69-9820-1FDCB507974A}"/>
              </a:ext>
            </a:extLst>
          </p:cNvPr>
          <p:cNvSpPr>
            <a:spLocks noGrp="1"/>
          </p:cNvSpPr>
          <p:nvPr>
            <p:ph idx="1"/>
          </p:nvPr>
        </p:nvSpPr>
        <p:spPr>
          <a:xfrm>
            <a:off x="457200" y="1031384"/>
            <a:ext cx="8229600" cy="5094779"/>
          </a:xfrm>
        </p:spPr>
        <p:txBody>
          <a:bodyPr vert="horz" lIns="91440" tIns="45720" rIns="91440" bIns="45720" rtlCol="0" anchor="t">
            <a:normAutofit/>
          </a:bodyPr>
          <a:lstStyle/>
          <a:p>
            <a:r>
              <a:rPr lang="en-US" sz="2500" dirty="0">
                <a:latin typeface="Poppins"/>
                <a:cs typeface="Poppins"/>
              </a:rPr>
              <a:t>Variable  Scope</a:t>
            </a:r>
            <a:br>
              <a:rPr lang="en-US" dirty="0"/>
            </a:br>
            <a:r>
              <a:rPr lang="en-US" sz="1200" dirty="0">
                <a:solidFill>
                  <a:srgbClr val="333333"/>
                </a:solidFill>
                <a:highlight>
                  <a:srgbClr val="FFFFFF"/>
                </a:highlight>
                <a:latin typeface="Poppins"/>
                <a:ea typeface="Calibri"/>
                <a:cs typeface="Poppins"/>
              </a:rPr>
              <a:t>A </a:t>
            </a:r>
            <a:r>
              <a:rPr lang="en-US" sz="1200" dirty="0">
                <a:solidFill>
                  <a:srgbClr val="FB5975"/>
                </a:solidFill>
                <a:highlight>
                  <a:srgbClr val="FFFFFF"/>
                </a:highlight>
                <a:latin typeface="Poppins"/>
                <a:ea typeface="Calibri"/>
                <a:cs typeface="Poppins"/>
                <a:hlinkClick r:id="rId2"/>
              </a:rPr>
              <a:t>variable’s</a:t>
            </a:r>
            <a:r>
              <a:rPr lang="en-US" sz="1200" dirty="0">
                <a:solidFill>
                  <a:srgbClr val="333333"/>
                </a:solidFill>
                <a:highlight>
                  <a:srgbClr val="FFFFFF"/>
                </a:highlight>
                <a:latin typeface="Poppins"/>
                <a:ea typeface="Calibri"/>
                <a:cs typeface="Poppins"/>
              </a:rPr>
              <a:t> scope determines where it can be referenced in the app.  If the variable is required on multiple screens use a global variable.  Otherwise, use a local or context variable instead.  Choose the proper variable type by determining its scope.</a:t>
            </a:r>
            <a:endParaRPr lang="en-US" dirty="0">
              <a:ea typeface="Calibri"/>
              <a:cs typeface="Calibri"/>
            </a:endParaRPr>
          </a:p>
        </p:txBody>
      </p:sp>
      <p:graphicFrame>
        <p:nvGraphicFramePr>
          <p:cNvPr id="5" name="Table 4">
            <a:extLst>
              <a:ext uri="{FF2B5EF4-FFF2-40B4-BE49-F238E27FC236}">
                <a16:creationId xmlns:a16="http://schemas.microsoft.com/office/drawing/2014/main" id="{8312C1EE-6ED6-E001-6875-76A5BD427F08}"/>
              </a:ext>
            </a:extLst>
          </p:cNvPr>
          <p:cNvGraphicFramePr>
            <a:graphicFrameLocks noGrp="1"/>
          </p:cNvGraphicFramePr>
          <p:nvPr>
            <p:extLst>
              <p:ext uri="{D42A27DB-BD31-4B8C-83A1-F6EECF244321}">
                <p14:modId xmlns:p14="http://schemas.microsoft.com/office/powerpoint/2010/main" val="2925619516"/>
              </p:ext>
            </p:extLst>
          </p:nvPr>
        </p:nvGraphicFramePr>
        <p:xfrm>
          <a:off x="639944" y="2892809"/>
          <a:ext cx="7842648" cy="2682240"/>
        </p:xfrm>
        <a:graphic>
          <a:graphicData uri="http://schemas.openxmlformats.org/drawingml/2006/table">
            <a:tbl>
              <a:tblPr bandRow="1">
                <a:tableStyleId>{5C22544A-7EE6-4342-B048-85BDC9FD1C3A}</a:tableStyleId>
              </a:tblPr>
              <a:tblGrid>
                <a:gridCol w="2614216">
                  <a:extLst>
                    <a:ext uri="{9D8B030D-6E8A-4147-A177-3AD203B41FA5}">
                      <a16:colId xmlns:a16="http://schemas.microsoft.com/office/drawing/2014/main" val="822537055"/>
                    </a:ext>
                  </a:extLst>
                </a:gridCol>
                <a:gridCol w="2614216">
                  <a:extLst>
                    <a:ext uri="{9D8B030D-6E8A-4147-A177-3AD203B41FA5}">
                      <a16:colId xmlns:a16="http://schemas.microsoft.com/office/drawing/2014/main" val="1853553602"/>
                    </a:ext>
                  </a:extLst>
                </a:gridCol>
                <a:gridCol w="2614216">
                  <a:extLst>
                    <a:ext uri="{9D8B030D-6E8A-4147-A177-3AD203B41FA5}">
                      <a16:colId xmlns:a16="http://schemas.microsoft.com/office/drawing/2014/main" val="1491564595"/>
                    </a:ext>
                  </a:extLst>
                </a:gridCol>
              </a:tblGrid>
              <a:tr h="0">
                <a:tc>
                  <a:txBody>
                    <a:bodyPr/>
                    <a:lstStyle/>
                    <a:p>
                      <a:pPr algn="l">
                        <a:buNone/>
                      </a:pPr>
                      <a:r>
                        <a:rPr lang="en-US" b="1">
                          <a:effectLst/>
                        </a:rPr>
                        <a:t>Variable Type</a:t>
                      </a:r>
                      <a:endParaRPr lang="en-US">
                        <a:effectLst/>
                      </a:endParaRPr>
                    </a:p>
                  </a:txBody>
                  <a:tcPr marL="142875" marR="142875" marT="95250" marB="9525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buNone/>
                      </a:pPr>
                      <a:r>
                        <a:rPr lang="en-US" b="1">
                          <a:effectLst/>
                        </a:rPr>
                        <a:t>Declaration Method</a:t>
                      </a:r>
                      <a:endParaRPr lang="en-US">
                        <a:effectLst/>
                      </a:endParaRPr>
                    </a:p>
                  </a:txBody>
                  <a:tcPr marL="142875" marR="142875" marT="95250" marB="9525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buNone/>
                      </a:pPr>
                      <a:r>
                        <a:rPr lang="en-US" b="1">
                          <a:effectLst/>
                        </a:rPr>
                        <a:t>Scope</a:t>
                      </a:r>
                      <a:endParaRPr lang="en-US">
                        <a:effectLst/>
                      </a:endParaRPr>
                    </a:p>
                  </a:txBody>
                  <a:tcPr marL="142875" marR="142875" marT="95250" marB="9525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701278445"/>
                  </a:ext>
                </a:extLst>
              </a:tr>
              <a:tr h="0">
                <a:tc>
                  <a:txBody>
                    <a:bodyPr/>
                    <a:lstStyle/>
                    <a:p>
                      <a:pPr algn="l">
                        <a:buNone/>
                      </a:pPr>
                      <a:r>
                        <a:rPr lang="en-US">
                          <a:effectLst/>
                        </a:rPr>
                        <a:t>Global</a:t>
                      </a:r>
                    </a:p>
                  </a:txBody>
                  <a:tcPr marL="142875" marR="142875" marT="95250" marB="9525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buNone/>
                      </a:pPr>
                      <a:r>
                        <a:rPr lang="en-US" sz="1800" u="none" kern="1200">
                          <a:solidFill>
                            <a:schemeClr val="dk1"/>
                          </a:solidFill>
                          <a:effectLst/>
                          <a:latin typeface="+mn-lt"/>
                          <a:ea typeface="+mn-ea"/>
                          <a:cs typeface="+mn-cs"/>
                        </a:rPr>
                        <a:t>Set Function</a:t>
                      </a:r>
                      <a:endParaRPr lang="en-US" sz="1800" u="none" kern="1200" dirty="0">
                        <a:solidFill>
                          <a:schemeClr val="dk1"/>
                        </a:solidFill>
                        <a:effectLst/>
                        <a:latin typeface="+mn-lt"/>
                        <a:ea typeface="+mn-ea"/>
                        <a:cs typeface="+mn-cs"/>
                      </a:endParaRPr>
                    </a:p>
                  </a:txBody>
                  <a:tcPr marL="142875" marR="142875" marT="95250" marB="9525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buNone/>
                      </a:pPr>
                      <a:r>
                        <a:rPr lang="en-US">
                          <a:effectLst/>
                        </a:rPr>
                        <a:t>Variable is available across all app screens</a:t>
                      </a:r>
                    </a:p>
                  </a:txBody>
                  <a:tcPr marL="142875" marR="142875" marT="95250" marB="9525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89848102"/>
                  </a:ext>
                </a:extLst>
              </a:tr>
              <a:tr h="0">
                <a:tc>
                  <a:txBody>
                    <a:bodyPr/>
                    <a:lstStyle/>
                    <a:p>
                      <a:pPr algn="l">
                        <a:buNone/>
                      </a:pPr>
                      <a:r>
                        <a:rPr lang="en-US">
                          <a:effectLst/>
                        </a:rPr>
                        <a:t>Local</a:t>
                      </a:r>
                    </a:p>
                  </a:txBody>
                  <a:tcPr marL="142875" marR="142875" marT="95250" marB="9525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lvl="0" algn="l">
                        <a:buNone/>
                      </a:pPr>
                      <a:r>
                        <a:rPr lang="en-US" sz="1800" b="0" i="0" u="none" strike="noStrike" noProof="0" dirty="0" err="1">
                          <a:solidFill>
                            <a:schemeClr val="dk1"/>
                          </a:solidFill>
                          <a:effectLst/>
                          <a:latin typeface="Calibri"/>
                          <a:ea typeface="Calibri"/>
                          <a:cs typeface="Calibri"/>
                        </a:rPr>
                        <a:t>UpdateContext</a:t>
                      </a:r>
                      <a:r>
                        <a:rPr lang="en-US" sz="1800" b="0" i="0" u="none" strike="noStrike" noProof="0" dirty="0">
                          <a:solidFill>
                            <a:schemeClr val="dk1"/>
                          </a:solidFill>
                          <a:effectLst/>
                          <a:latin typeface="Calibri"/>
                          <a:ea typeface="Calibri"/>
                          <a:cs typeface="Calibri"/>
                        </a:rPr>
                        <a:t> Function</a:t>
                      </a:r>
                      <a:endParaRPr lang="en-US" dirty="0"/>
                    </a:p>
                  </a:txBody>
                  <a:tcPr marL="142875" marR="142875" marT="95250" marB="9525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buNone/>
                      </a:pPr>
                      <a:r>
                        <a:rPr lang="en-US">
                          <a:effectLst/>
                        </a:rPr>
                        <a:t>Variable is only available on a single app screen</a:t>
                      </a:r>
                    </a:p>
                  </a:txBody>
                  <a:tcPr marL="142875" marR="142875" marT="95250" marB="9525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117044035"/>
                  </a:ext>
                </a:extLst>
              </a:tr>
              <a:tr h="0">
                <a:tc>
                  <a:txBody>
                    <a:bodyPr/>
                    <a:lstStyle/>
                    <a:p>
                      <a:pPr algn="l">
                        <a:buNone/>
                      </a:pPr>
                      <a:r>
                        <a:rPr lang="en-US">
                          <a:effectLst/>
                        </a:rPr>
                        <a:t>One-time</a:t>
                      </a:r>
                    </a:p>
                  </a:txBody>
                  <a:tcPr marL="142875" marR="142875" marT="95250" marB="9525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lvl="0" algn="l">
                        <a:buNone/>
                      </a:pPr>
                      <a:r>
                        <a:rPr lang="en-US" sz="1800" b="0" i="0" u="none" strike="noStrike" noProof="0">
                          <a:solidFill>
                            <a:schemeClr val="dk1"/>
                          </a:solidFill>
                          <a:effectLst/>
                          <a:latin typeface="Calibri"/>
                          <a:ea typeface="Calibri"/>
                          <a:cs typeface="Calibri"/>
                        </a:rPr>
                        <a:t>With Function</a:t>
                      </a:r>
                      <a:endParaRPr lang="en-US" sz="1800" i="0" noProof="0">
                        <a:solidFill>
                          <a:schemeClr val="dk1"/>
                        </a:solidFill>
                        <a:latin typeface="Calibri"/>
                        <a:ea typeface="Calibri"/>
                        <a:cs typeface="Calibri"/>
                      </a:endParaRPr>
                    </a:p>
                  </a:txBody>
                  <a:tcPr marL="142875" marR="142875" marT="95250" marB="9525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buNone/>
                      </a:pPr>
                      <a:r>
                        <a:rPr lang="en-US">
                          <a:effectLst/>
                        </a:rPr>
                        <a:t>Variable is only available inside the WITH function</a:t>
                      </a:r>
                    </a:p>
                  </a:txBody>
                  <a:tcPr marL="142875" marR="142875" marT="95250" marB="9525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432722620"/>
                  </a:ext>
                </a:extLst>
              </a:tr>
            </a:tbl>
          </a:graphicData>
        </a:graphic>
      </p:graphicFrame>
    </p:spTree>
    <p:extLst>
      <p:ext uri="{BB962C8B-B14F-4D97-AF65-F5344CB8AC3E}">
        <p14:creationId xmlns:p14="http://schemas.microsoft.com/office/powerpoint/2010/main" val="29583811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D3441-75BE-4634-41F4-D1A1EEE8E0D9}"/>
              </a:ext>
            </a:extLst>
          </p:cNvPr>
          <p:cNvSpPr>
            <a:spLocks noGrp="1"/>
          </p:cNvSpPr>
          <p:nvPr>
            <p:ph type="title"/>
          </p:nvPr>
        </p:nvSpPr>
        <p:spPr/>
        <p:txBody>
          <a:bodyPr/>
          <a:lstStyle/>
          <a:p>
            <a:r>
              <a:rPr lang="en-US" dirty="0">
                <a:ea typeface="Calibri"/>
                <a:cs typeface="Calibri"/>
              </a:rPr>
              <a:t>Power </a:t>
            </a:r>
            <a:r>
              <a:rPr lang="en-US" dirty="0" err="1">
                <a:ea typeface="Calibri"/>
                <a:cs typeface="Calibri"/>
              </a:rPr>
              <a:t>Fx</a:t>
            </a:r>
            <a:r>
              <a:rPr lang="en-US" dirty="0">
                <a:ea typeface="Calibri"/>
                <a:cs typeface="Calibri"/>
              </a:rPr>
              <a:t> Formulas</a:t>
            </a:r>
            <a:endParaRPr lang="en-US" dirty="0"/>
          </a:p>
        </p:txBody>
      </p:sp>
      <p:sp>
        <p:nvSpPr>
          <p:cNvPr id="3" name="Content Placeholder 2">
            <a:extLst>
              <a:ext uri="{FF2B5EF4-FFF2-40B4-BE49-F238E27FC236}">
                <a16:creationId xmlns:a16="http://schemas.microsoft.com/office/drawing/2014/main" id="{F977FE65-2579-C364-7B08-901034AC79AD}"/>
              </a:ext>
            </a:extLst>
          </p:cNvPr>
          <p:cNvSpPr>
            <a:spLocks noGrp="1"/>
          </p:cNvSpPr>
          <p:nvPr>
            <p:ph idx="1"/>
          </p:nvPr>
        </p:nvSpPr>
        <p:spPr/>
        <p:txBody>
          <a:bodyPr vert="horz" lIns="91440" tIns="45720" rIns="91440" bIns="45720" rtlCol="0" anchor="t">
            <a:normAutofit fontScale="92500" lnSpcReduction="20000"/>
          </a:bodyPr>
          <a:lstStyle/>
          <a:p>
            <a:r>
              <a:rPr lang="en-US" dirty="0">
                <a:latin typeface="Calibri"/>
                <a:ea typeface="Calibri"/>
                <a:cs typeface="Calibri"/>
              </a:rPr>
              <a:t>With Function </a:t>
            </a:r>
            <a:r>
              <a:rPr lang="en-US" sz="1100" dirty="0">
                <a:latin typeface="Segoe UI"/>
                <a:ea typeface="Calibri"/>
                <a:cs typeface="Segoe UI"/>
              </a:rPr>
              <a:t>lets you define one or more </a:t>
            </a:r>
            <a:r>
              <a:rPr lang="en-US" sz="1100" b="1" dirty="0">
                <a:latin typeface="Segoe UI"/>
                <a:ea typeface="Calibri"/>
                <a:cs typeface="Segoe UI"/>
              </a:rPr>
              <a:t>temporary variables</a:t>
            </a:r>
            <a:r>
              <a:rPr lang="en-US" sz="1100" dirty="0">
                <a:latin typeface="Segoe UI"/>
                <a:ea typeface="Calibri"/>
                <a:cs typeface="Segoe UI"/>
              </a:rPr>
              <a:t> (locals) and then use them within a single formula block. It’s perfect for:</a:t>
            </a:r>
            <a:endParaRPr lang="en-US">
              <a:ea typeface="Calibri"/>
              <a:cs typeface="Calibri"/>
            </a:endParaRPr>
          </a:p>
          <a:p>
            <a:endParaRPr lang="en-US" sz="1100" dirty="0">
              <a:latin typeface="Segoe UI"/>
              <a:ea typeface="Calibri"/>
              <a:cs typeface="Segoe UI"/>
            </a:endParaRPr>
          </a:p>
          <a:p>
            <a:r>
              <a:rPr lang="en-US" sz="1100">
                <a:latin typeface="Segoe UI"/>
                <a:ea typeface="Calibri"/>
                <a:cs typeface="Segoe UI"/>
              </a:rPr>
              <a:t>Avoiding repeated calculations (better readability &amp; performance)</a:t>
            </a:r>
            <a:endParaRPr lang="en-US"/>
          </a:p>
          <a:p>
            <a:r>
              <a:rPr lang="en-US" sz="1100">
                <a:latin typeface="Segoe UI"/>
                <a:ea typeface="Calibri"/>
                <a:cs typeface="Segoe UI"/>
              </a:rPr>
              <a:t>The first argument is a </a:t>
            </a:r>
            <a:r>
              <a:rPr lang="en-US" sz="1100" b="1">
                <a:latin typeface="Segoe UI"/>
                <a:ea typeface="Calibri"/>
                <a:cs typeface="Segoe UI"/>
              </a:rPr>
              <a:t>record</a:t>
            </a:r>
            <a:r>
              <a:rPr lang="en-US" sz="1100">
                <a:latin typeface="Segoe UI"/>
                <a:ea typeface="Calibri"/>
                <a:cs typeface="Segoe UI"/>
              </a:rPr>
              <a:t> of name/value pairs (your local variables).</a:t>
            </a:r>
            <a:endParaRPr lang="en-US"/>
          </a:p>
          <a:p>
            <a:r>
              <a:rPr lang="en-US" sz="1100">
                <a:latin typeface="Segoe UI"/>
                <a:ea typeface="Calibri"/>
                <a:cs typeface="Segoe UI"/>
              </a:rPr>
              <a:t>The second argument is any expression that can use those local names.</a:t>
            </a:r>
            <a:endParaRPr lang="en-US"/>
          </a:p>
          <a:p>
            <a:endParaRPr lang="en-US" sz="1100" dirty="0">
              <a:latin typeface="Segoe UI"/>
              <a:ea typeface="Calibri"/>
              <a:cs typeface="Segoe UI"/>
            </a:endParaRPr>
          </a:p>
          <a:p>
            <a:r>
              <a:rPr lang="en-US" sz="1100" dirty="0">
                <a:latin typeface="Segoe UI"/>
                <a:ea typeface="Calibri"/>
                <a:cs typeface="Segoe UI"/>
              </a:rPr>
              <a:t>One-time variables are not persistently stored in memory. After the </a:t>
            </a:r>
            <a:r>
              <a:rPr lang="en-US" sz="1100" dirty="0">
                <a:latin typeface="Segoe UI"/>
                <a:ea typeface="Calibri"/>
                <a:cs typeface="Segoe UI"/>
                <a:hlinkClick r:id="rId2">
                  <a:extLst>
                    <a:ext uri="{A12FA001-AC4F-418D-AE19-62706E023703}">
                      <ahyp:hlinkClr xmlns:ahyp="http://schemas.microsoft.com/office/drawing/2018/hyperlinkcolor" val="tx"/>
                    </a:ext>
                  </a:extLst>
                </a:hlinkClick>
              </a:rPr>
              <a:t>With function</a:t>
            </a:r>
            <a:r>
              <a:rPr lang="en-US" sz="1100" dirty="0">
                <a:latin typeface="Segoe UI"/>
                <a:ea typeface="Calibri"/>
                <a:cs typeface="Segoe UI"/>
              </a:rPr>
              <a:t> is executed the variable is cleared from memory and cannot be accessed outside of the function</a:t>
            </a:r>
          </a:p>
          <a:p>
            <a:endParaRPr lang="en-US" sz="1100" dirty="0">
              <a:latin typeface="Segoe UI"/>
              <a:ea typeface="+mn-lt"/>
              <a:cs typeface="Segoe UI"/>
            </a:endParaRPr>
          </a:p>
          <a:p>
            <a:r>
              <a:rPr lang="en-US" sz="1100">
                <a:latin typeface="Segoe UI"/>
                <a:ea typeface="+mn-lt"/>
                <a:cs typeface="Segoe UI"/>
              </a:rPr>
              <a:t>Example 1:</a:t>
            </a:r>
            <a:endParaRPr lang="en-US" sz="1100" dirty="0">
              <a:latin typeface="Segoe UI"/>
              <a:ea typeface="+mn-lt"/>
              <a:cs typeface="Segoe UI"/>
            </a:endParaRPr>
          </a:p>
          <a:p>
            <a:endParaRPr lang="en-US" sz="1100" dirty="0">
              <a:latin typeface="Segoe UI"/>
              <a:ea typeface="+mn-lt"/>
              <a:cs typeface="Segoe UI"/>
            </a:endParaRPr>
          </a:p>
          <a:p>
            <a:pPr marL="0" indent="0">
              <a:buNone/>
            </a:pPr>
            <a:r>
              <a:rPr lang="en-US" sz="1100">
                <a:latin typeface="Segoe UI"/>
                <a:ea typeface="Calibri"/>
                <a:cs typeface="Segoe UI"/>
              </a:rPr>
              <a:t>             With(</a:t>
            </a:r>
            <a:endParaRPr lang="en-US" sz="1100" dirty="0">
              <a:latin typeface="Segoe UI"/>
              <a:ea typeface="Calibri"/>
              <a:cs typeface="Segoe UI"/>
            </a:endParaRPr>
          </a:p>
          <a:p>
            <a:pPr marL="0" indent="0">
              <a:buNone/>
            </a:pPr>
            <a:r>
              <a:rPr lang="en-US" sz="1100" dirty="0">
                <a:latin typeface="Segoe UI"/>
                <a:ea typeface="Calibri"/>
                <a:cs typeface="Segoe UI"/>
              </a:rPr>
              <a:t>                      { Price: 1200, </a:t>
            </a:r>
            <a:r>
              <a:rPr lang="en-US" sz="1100" dirty="0" err="1">
                <a:latin typeface="Segoe UI"/>
                <a:ea typeface="Calibri"/>
                <a:cs typeface="Segoe UI"/>
              </a:rPr>
              <a:t>DiscountPct</a:t>
            </a:r>
            <a:r>
              <a:rPr lang="en-US" sz="1100" dirty="0">
                <a:latin typeface="Segoe UI"/>
                <a:ea typeface="Calibri"/>
                <a:cs typeface="Segoe UI"/>
              </a:rPr>
              <a:t>: 0.1, Discount: 1200 * 0.1 },</a:t>
            </a:r>
          </a:p>
          <a:p>
            <a:pPr marL="0" indent="0">
              <a:buNone/>
            </a:pPr>
            <a:r>
              <a:rPr lang="en-US" sz="1100">
                <a:latin typeface="Segoe UI"/>
                <a:ea typeface="Calibri"/>
                <a:cs typeface="Segoe UI"/>
              </a:rPr>
              <a:t>                        Price - Discount</a:t>
            </a:r>
          </a:p>
          <a:p>
            <a:pPr marL="0" indent="0">
              <a:buNone/>
            </a:pPr>
            <a:r>
              <a:rPr lang="en-US" sz="1100">
                <a:latin typeface="Segoe UI"/>
                <a:ea typeface="Calibri"/>
                <a:cs typeface="Segoe UI"/>
              </a:rPr>
              <a:t>                       )</a:t>
            </a:r>
          </a:p>
          <a:p>
            <a:pPr marL="0" indent="0">
              <a:buNone/>
            </a:pPr>
            <a:r>
              <a:rPr lang="en-US" sz="1100">
                <a:latin typeface="Segoe UI"/>
                <a:ea typeface="Calibri"/>
                <a:cs typeface="Segoe UI"/>
              </a:rPr>
              <a:t>            Example 2:</a:t>
            </a:r>
          </a:p>
          <a:p>
            <a:pPr marL="0" indent="0">
              <a:buNone/>
            </a:pPr>
            <a:endParaRPr lang="en-US" sz="1100" dirty="0">
              <a:latin typeface="Segoe UI"/>
              <a:ea typeface="Calibri"/>
              <a:cs typeface="Segoe UI"/>
            </a:endParaRPr>
          </a:p>
          <a:p>
            <a:pPr marL="0" indent="0">
              <a:buNone/>
            </a:pPr>
            <a:r>
              <a:rPr lang="en-US" sz="1100" dirty="0">
                <a:latin typeface="Segoe UI"/>
                <a:ea typeface="Calibri"/>
                <a:cs typeface="Segoe UI"/>
              </a:rPr>
              <a:t>      </a:t>
            </a:r>
            <a:r>
              <a:rPr lang="en-US" sz="1100" dirty="0">
                <a:latin typeface="Segoe UI"/>
                <a:ea typeface="+mn-lt"/>
                <a:cs typeface="Segoe UI"/>
              </a:rPr>
              <a:t>      </a:t>
            </a:r>
            <a:r>
              <a:rPr lang="en-US" sz="1100">
                <a:ea typeface="+mn-lt"/>
                <a:cs typeface="+mn-lt"/>
              </a:rPr>
              <a:t>With(</a:t>
            </a:r>
            <a:endParaRPr lang="en-US" sz="1100" dirty="0">
              <a:latin typeface="Segoe UI"/>
              <a:ea typeface="Calibri"/>
              <a:cs typeface="Segoe UI"/>
            </a:endParaRPr>
          </a:p>
          <a:p>
            <a:pPr>
              <a:buNone/>
            </a:pPr>
            <a:r>
              <a:rPr lang="en-US" sz="1100">
                <a:ea typeface="+mn-lt"/>
                <a:cs typeface="+mn-lt"/>
              </a:rPr>
              <a:t>                {</a:t>
            </a:r>
            <a:endParaRPr lang="en-US"/>
          </a:p>
          <a:p>
            <a:pPr>
              <a:buNone/>
            </a:pPr>
            <a:r>
              <a:rPr lang="en-US" sz="1100">
                <a:ea typeface="+mn-lt"/>
                <a:cs typeface="+mn-lt"/>
              </a:rPr>
              <a:t>               Base: 500,</a:t>
            </a:r>
            <a:endParaRPr lang="en-US"/>
          </a:p>
          <a:p>
            <a:pPr>
              <a:buNone/>
            </a:pPr>
            <a:r>
              <a:rPr lang="en-US" sz="1100" dirty="0">
                <a:ea typeface="+mn-lt"/>
                <a:cs typeface="+mn-lt"/>
              </a:rPr>
              <a:t>               </a:t>
            </a:r>
            <a:r>
              <a:rPr lang="en-US" sz="1100" dirty="0" err="1">
                <a:ea typeface="+mn-lt"/>
                <a:cs typeface="+mn-lt"/>
              </a:rPr>
              <a:t>TaxRate</a:t>
            </a:r>
            <a:r>
              <a:rPr lang="en-US" sz="1100" dirty="0">
                <a:ea typeface="+mn-lt"/>
                <a:cs typeface="+mn-lt"/>
              </a:rPr>
              <a:t>: 0.18,</a:t>
            </a:r>
            <a:endParaRPr lang="en-US" dirty="0"/>
          </a:p>
          <a:p>
            <a:pPr>
              <a:buNone/>
            </a:pPr>
            <a:r>
              <a:rPr lang="en-US" sz="1100" dirty="0">
                <a:ea typeface="+mn-lt"/>
                <a:cs typeface="+mn-lt"/>
              </a:rPr>
              <a:t>             </a:t>
            </a:r>
            <a:r>
              <a:rPr lang="en-US" sz="1100" dirty="0" err="1">
                <a:ea typeface="+mn-lt"/>
                <a:cs typeface="+mn-lt"/>
              </a:rPr>
              <a:t>TaxAmount</a:t>
            </a:r>
            <a:r>
              <a:rPr lang="en-US" sz="1100" dirty="0">
                <a:ea typeface="+mn-lt"/>
                <a:cs typeface="+mn-lt"/>
              </a:rPr>
              <a:t>: Base * </a:t>
            </a:r>
            <a:r>
              <a:rPr lang="en-US" sz="1100" dirty="0" err="1">
                <a:ea typeface="+mn-lt"/>
                <a:cs typeface="+mn-lt"/>
              </a:rPr>
              <a:t>TaxRate</a:t>
            </a:r>
            <a:r>
              <a:rPr lang="en-US" sz="1100" dirty="0">
                <a:ea typeface="+mn-lt"/>
                <a:cs typeface="+mn-lt"/>
              </a:rPr>
              <a:t>,</a:t>
            </a:r>
            <a:endParaRPr lang="en-US" dirty="0"/>
          </a:p>
          <a:p>
            <a:pPr>
              <a:buNone/>
            </a:pPr>
            <a:r>
              <a:rPr lang="en-US" sz="1100" dirty="0">
                <a:ea typeface="+mn-lt"/>
                <a:cs typeface="+mn-lt"/>
              </a:rPr>
              <a:t>        Total: Base + </a:t>
            </a:r>
            <a:r>
              <a:rPr lang="en-US" sz="1100" dirty="0" err="1">
                <a:ea typeface="+mn-lt"/>
                <a:cs typeface="+mn-lt"/>
              </a:rPr>
              <a:t>TaxAmount</a:t>
            </a:r>
            <a:endParaRPr lang="en-US" dirty="0" err="1"/>
          </a:p>
          <a:p>
            <a:pPr>
              <a:buNone/>
            </a:pPr>
            <a:r>
              <a:rPr lang="en-US" sz="1100">
                <a:ea typeface="+mn-lt"/>
                <a:cs typeface="+mn-lt"/>
              </a:rPr>
              <a:t>    },</a:t>
            </a:r>
            <a:endParaRPr lang="en-US"/>
          </a:p>
          <a:p>
            <a:pPr>
              <a:buNone/>
            </a:pPr>
            <a:r>
              <a:rPr lang="en-US" sz="1100">
                <a:ea typeface="+mn-lt"/>
                <a:cs typeface="+mn-lt"/>
              </a:rPr>
              <a:t>    Total</a:t>
            </a:r>
            <a:endParaRPr lang="en-US"/>
          </a:p>
          <a:p>
            <a:pPr>
              <a:buNone/>
            </a:pPr>
            <a:r>
              <a:rPr lang="en-US" sz="1100">
                <a:ea typeface="+mn-lt"/>
                <a:cs typeface="+mn-lt"/>
              </a:rPr>
              <a:t>)</a:t>
            </a:r>
            <a:endParaRPr lang="en-US"/>
          </a:p>
          <a:p>
            <a:pPr marL="0" indent="0">
              <a:buNone/>
            </a:pPr>
            <a:endParaRPr lang="en-US" sz="1100" dirty="0">
              <a:latin typeface="Segoe UI"/>
              <a:ea typeface="Calibri"/>
              <a:cs typeface="Segoe UI"/>
            </a:endParaRPr>
          </a:p>
          <a:p>
            <a:endParaRPr lang="en-US" dirty="0">
              <a:ea typeface="Calibri"/>
              <a:cs typeface="Calibri"/>
            </a:endParaRPr>
          </a:p>
        </p:txBody>
      </p:sp>
    </p:spTree>
    <p:extLst>
      <p:ext uri="{BB962C8B-B14F-4D97-AF65-F5344CB8AC3E}">
        <p14:creationId xmlns:p14="http://schemas.microsoft.com/office/powerpoint/2010/main" val="199174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A4C2B-C3F0-A849-3EC3-F5CCB3DDD0A9}"/>
              </a:ext>
            </a:extLst>
          </p:cNvPr>
          <p:cNvSpPr>
            <a:spLocks noGrp="1"/>
          </p:cNvSpPr>
          <p:nvPr>
            <p:ph type="title"/>
          </p:nvPr>
        </p:nvSpPr>
        <p:spPr/>
        <p:txBody>
          <a:bodyPr/>
          <a:lstStyle/>
          <a:p>
            <a:r>
              <a:rPr lang="en-US">
                <a:ea typeface="Calibri"/>
                <a:cs typeface="Calibri"/>
              </a:rPr>
              <a:t>Global Variables</a:t>
            </a:r>
            <a:endParaRPr lang="en-US"/>
          </a:p>
        </p:txBody>
      </p:sp>
      <p:sp>
        <p:nvSpPr>
          <p:cNvPr id="3" name="Content Placeholder 2">
            <a:extLst>
              <a:ext uri="{FF2B5EF4-FFF2-40B4-BE49-F238E27FC236}">
                <a16:creationId xmlns:a16="http://schemas.microsoft.com/office/drawing/2014/main" id="{CF8E5426-1EFD-BC2C-3099-777388058509}"/>
              </a:ext>
            </a:extLst>
          </p:cNvPr>
          <p:cNvSpPr>
            <a:spLocks noGrp="1"/>
          </p:cNvSpPr>
          <p:nvPr>
            <p:ph idx="1"/>
          </p:nvPr>
        </p:nvSpPr>
        <p:spPr/>
        <p:txBody>
          <a:bodyPr vert="horz" lIns="91440" tIns="45720" rIns="91440" bIns="45720" rtlCol="0" anchor="t">
            <a:normAutofit/>
          </a:bodyPr>
          <a:lstStyle/>
          <a:p>
            <a:r>
              <a:rPr lang="en-US">
                <a:ea typeface="Calibri"/>
                <a:cs typeface="Calibri"/>
              </a:rPr>
              <a:t>Set Function </a:t>
            </a:r>
            <a:r>
              <a:rPr lang="en-US" sz="1100">
                <a:latin typeface="Segoe UI"/>
                <a:ea typeface="Calibri"/>
                <a:cs typeface="Segoe UI"/>
              </a:rPr>
              <a:t>To use variables </a:t>
            </a:r>
            <a:r>
              <a:rPr lang="en-US" sz="1100" b="1">
                <a:latin typeface="Segoe UI"/>
                <a:ea typeface="Calibri"/>
                <a:cs typeface="Segoe UI"/>
              </a:rPr>
              <a:t>across two (or more) screens</a:t>
            </a:r>
            <a:r>
              <a:rPr lang="en-US" sz="1100">
                <a:latin typeface="Segoe UI"/>
                <a:ea typeface="Calibri"/>
                <a:cs typeface="Segoe UI"/>
              </a:rPr>
              <a:t> in Power Apps, the best method is to use </a:t>
            </a:r>
            <a:r>
              <a:rPr lang="en-US" sz="1100" b="1">
                <a:latin typeface="Segoe UI"/>
                <a:ea typeface="Calibri"/>
                <a:cs typeface="Segoe UI"/>
              </a:rPr>
              <a:t>global variables</a:t>
            </a:r>
            <a:r>
              <a:rPr lang="en-US" sz="1100">
                <a:latin typeface="Segoe UI"/>
                <a:ea typeface="Calibri"/>
                <a:cs typeface="Segoe UI"/>
              </a:rPr>
              <a:t> with the </a:t>
            </a:r>
            <a:r>
              <a:rPr lang="en-US" sz="1100" b="1">
                <a:latin typeface="Segoe UI"/>
                <a:ea typeface="Calibri"/>
                <a:cs typeface="Segoe UI"/>
              </a:rPr>
              <a:t>Set()</a:t>
            </a:r>
            <a:r>
              <a:rPr lang="en-US" sz="1100">
                <a:latin typeface="Segoe UI"/>
                <a:ea typeface="Calibri"/>
                <a:cs typeface="Segoe UI"/>
              </a:rPr>
              <a:t> function.</a:t>
            </a:r>
            <a:endParaRPr lang="en-US">
              <a:ea typeface="Calibri"/>
              <a:cs typeface="Calibri"/>
            </a:endParaRPr>
          </a:p>
          <a:p>
            <a:pPr marL="0" indent="0">
              <a:buNone/>
            </a:pPr>
            <a:endParaRPr lang="en-US" sz="1100" dirty="0">
              <a:latin typeface="Segoe UI"/>
              <a:ea typeface="Calibri"/>
              <a:cs typeface="Segoe UI"/>
            </a:endParaRPr>
          </a:p>
          <a:p>
            <a:r>
              <a:rPr lang="en-US" sz="1100">
                <a:latin typeface="Consolas"/>
                <a:ea typeface="Calibri"/>
                <a:cs typeface="Calibri"/>
              </a:rPr>
              <a:t>Set()</a:t>
            </a:r>
            <a:r>
              <a:rPr lang="en-US" sz="1100">
                <a:latin typeface="Segoe UI"/>
                <a:ea typeface="Calibri"/>
                <a:cs typeface="Segoe UI"/>
              </a:rPr>
              <a:t> variables are global → available everywhere throughout the app</a:t>
            </a:r>
            <a:endParaRPr lang="en-US"/>
          </a:p>
          <a:p>
            <a:endParaRPr lang="en-US" sz="1100" dirty="0">
              <a:latin typeface="Segoe UI"/>
              <a:ea typeface="Calibri"/>
              <a:cs typeface="Segoe UI"/>
            </a:endParaRPr>
          </a:p>
          <a:p>
            <a:r>
              <a:rPr lang="en-US" sz="1100" dirty="0">
                <a:solidFill>
                  <a:srgbClr val="0A0A0A"/>
                </a:solidFill>
                <a:highlight>
                  <a:srgbClr val="F3F5F6"/>
                </a:highlight>
                <a:ea typeface="+mn-lt"/>
                <a:cs typeface="+mn-lt"/>
              </a:rPr>
              <a:t>Set(</a:t>
            </a:r>
            <a:r>
              <a:rPr lang="en-US" sz="1100" dirty="0" err="1">
                <a:solidFill>
                  <a:srgbClr val="0A0A0A"/>
                </a:solidFill>
                <a:highlight>
                  <a:srgbClr val="F3F5F6"/>
                </a:highlight>
                <a:ea typeface="+mn-lt"/>
                <a:cs typeface="+mn-lt"/>
              </a:rPr>
              <a:t>VariableName</a:t>
            </a:r>
            <a:r>
              <a:rPr lang="en-US" sz="1100" dirty="0">
                <a:solidFill>
                  <a:srgbClr val="0A0A0A"/>
                </a:solidFill>
                <a:highlight>
                  <a:srgbClr val="F3F5F6"/>
                </a:highlight>
                <a:ea typeface="+mn-lt"/>
                <a:cs typeface="+mn-lt"/>
              </a:rPr>
              <a:t>, Value)</a:t>
            </a:r>
            <a:endParaRPr lang="en-US" sz="1100" dirty="0">
              <a:latin typeface="Segoe UI"/>
              <a:ea typeface="Calibri"/>
              <a:cs typeface="Segoe UI"/>
            </a:endParaRPr>
          </a:p>
          <a:p>
            <a:endParaRPr lang="en-US" sz="1100" dirty="0">
              <a:solidFill>
                <a:srgbClr val="0A0A0A"/>
              </a:solidFill>
              <a:highlight>
                <a:srgbClr val="F3F5F6"/>
              </a:highlight>
              <a:latin typeface="Calibri"/>
              <a:ea typeface="Calibri"/>
              <a:cs typeface="Calibri"/>
            </a:endParaRPr>
          </a:p>
          <a:p>
            <a:r>
              <a:rPr lang="en-US" sz="1100" dirty="0">
                <a:solidFill>
                  <a:srgbClr val="0A0A0A"/>
                </a:solidFill>
                <a:highlight>
                  <a:srgbClr val="F3F5F6"/>
                </a:highlight>
                <a:latin typeface="Consolas"/>
                <a:ea typeface="Calibri"/>
                <a:cs typeface="Calibri"/>
              </a:rPr>
              <a:t>Set(</a:t>
            </a:r>
            <a:r>
              <a:rPr lang="en-US" sz="1100" dirty="0" err="1">
                <a:solidFill>
                  <a:srgbClr val="0A0A0A"/>
                </a:solidFill>
                <a:highlight>
                  <a:srgbClr val="F3F5F6"/>
                </a:highlight>
                <a:latin typeface="Consolas"/>
                <a:ea typeface="Calibri"/>
                <a:cs typeface="Calibri"/>
              </a:rPr>
              <a:t>varCounter</a:t>
            </a:r>
            <a:r>
              <a:rPr lang="en-US" sz="1100" dirty="0">
                <a:solidFill>
                  <a:srgbClr val="0A0A0A"/>
                </a:solidFill>
                <a:highlight>
                  <a:srgbClr val="F3F5F6"/>
                </a:highlight>
                <a:latin typeface="Consolas"/>
                <a:ea typeface="Calibri"/>
                <a:cs typeface="Calibri"/>
              </a:rPr>
              <a:t>, 1)</a:t>
            </a:r>
            <a:endParaRPr lang="en-US" sz="1100" dirty="0">
              <a:solidFill>
                <a:srgbClr val="0A0A0A"/>
              </a:solidFill>
              <a:highlight>
                <a:srgbClr val="F3F5F6"/>
              </a:highlight>
              <a:latin typeface="Calibri"/>
              <a:ea typeface="Calibri"/>
              <a:cs typeface="Calibri"/>
            </a:endParaRPr>
          </a:p>
          <a:p>
            <a:r>
              <a:rPr lang="en-US" sz="1100" dirty="0">
                <a:solidFill>
                  <a:srgbClr val="0A0A0A"/>
                </a:solidFill>
                <a:highlight>
                  <a:srgbClr val="F3F5F6"/>
                </a:highlight>
                <a:latin typeface="Consolas"/>
                <a:ea typeface="Calibri"/>
                <a:cs typeface="Calibri"/>
              </a:rPr>
              <a:t>Set(</a:t>
            </a:r>
            <a:r>
              <a:rPr lang="en-US" sz="1100" dirty="0" err="1">
                <a:solidFill>
                  <a:srgbClr val="0A0A0A"/>
                </a:solidFill>
                <a:highlight>
                  <a:srgbClr val="F3F5F6"/>
                </a:highlight>
                <a:latin typeface="Consolas"/>
                <a:ea typeface="Calibri"/>
                <a:cs typeface="Calibri"/>
              </a:rPr>
              <a:t>varName</a:t>
            </a:r>
            <a:r>
              <a:rPr lang="en-US" sz="1100" dirty="0">
                <a:solidFill>
                  <a:srgbClr val="0A0A0A"/>
                </a:solidFill>
                <a:highlight>
                  <a:srgbClr val="F3F5F6"/>
                </a:highlight>
                <a:latin typeface="Consolas"/>
                <a:ea typeface="Calibri"/>
                <a:cs typeface="Calibri"/>
              </a:rPr>
              <a:t>, "Lily")</a:t>
            </a:r>
          </a:p>
          <a:p>
            <a:r>
              <a:rPr lang="en-US" sz="1100" dirty="0">
                <a:solidFill>
                  <a:srgbClr val="0A0A0A"/>
                </a:solidFill>
                <a:highlight>
                  <a:srgbClr val="F3F5F6"/>
                </a:highlight>
                <a:ea typeface="+mn-lt"/>
                <a:cs typeface="+mn-lt"/>
              </a:rPr>
              <a:t>Set(</a:t>
            </a:r>
            <a:r>
              <a:rPr lang="en-US" sz="1100" dirty="0" err="1">
                <a:solidFill>
                  <a:srgbClr val="0A0A0A"/>
                </a:solidFill>
                <a:highlight>
                  <a:srgbClr val="F3F5F6"/>
                </a:highlight>
                <a:ea typeface="+mn-lt"/>
                <a:cs typeface="+mn-lt"/>
              </a:rPr>
              <a:t>varPerson</a:t>
            </a:r>
            <a:r>
              <a:rPr lang="en-US" sz="1100" dirty="0">
                <a:solidFill>
                  <a:srgbClr val="0A0A0A"/>
                </a:solidFill>
                <a:highlight>
                  <a:srgbClr val="F3F5F6"/>
                </a:highlight>
                <a:ea typeface="+mn-lt"/>
                <a:cs typeface="+mn-lt"/>
              </a:rPr>
              <a:t>, { Name: "Milton", Address: "1 Main St" })</a:t>
            </a:r>
            <a:endParaRPr lang="en-US" sz="1100" dirty="0">
              <a:solidFill>
                <a:srgbClr val="0A0A0A"/>
              </a:solidFill>
              <a:highlight>
                <a:srgbClr val="F3F5F6"/>
              </a:highlight>
              <a:latin typeface="Consolas"/>
              <a:ea typeface="Calibri"/>
              <a:cs typeface="Calibri"/>
            </a:endParaRPr>
          </a:p>
          <a:p>
            <a:endParaRPr lang="en-US" sz="1100" dirty="0">
              <a:solidFill>
                <a:srgbClr val="0A0A0A"/>
              </a:solidFill>
              <a:highlight>
                <a:srgbClr val="F3F5F6"/>
              </a:highlight>
              <a:latin typeface="Consolas"/>
              <a:ea typeface="Calibri"/>
              <a:cs typeface="Calibri"/>
            </a:endParaRPr>
          </a:p>
          <a:p>
            <a:endParaRPr lang="en-US" sz="1100" dirty="0">
              <a:latin typeface="Segoe UI"/>
              <a:ea typeface="Calibri"/>
              <a:cs typeface="Segoe UI"/>
            </a:endParaRPr>
          </a:p>
          <a:p>
            <a:r>
              <a:rPr lang="en-US" sz="1100" dirty="0">
                <a:latin typeface="Segoe UI"/>
                <a:ea typeface="Calibri"/>
                <a:cs typeface="Segoe UI"/>
              </a:rPr>
              <a:t>Screen1 → </a:t>
            </a:r>
            <a:r>
              <a:rPr lang="en-US" sz="1100" dirty="0" err="1">
                <a:latin typeface="Segoe UI"/>
                <a:ea typeface="Calibri"/>
                <a:cs typeface="Segoe UI"/>
              </a:rPr>
              <a:t>Button.OnSelect</a:t>
            </a:r>
            <a:endParaRPr lang="en-US" sz="1100">
              <a:latin typeface="Segoe UI"/>
              <a:ea typeface="Calibri"/>
              <a:cs typeface="Segoe UI"/>
            </a:endParaRPr>
          </a:p>
          <a:p>
            <a:endParaRPr lang="en-US" sz="1100" dirty="0">
              <a:latin typeface="Segoe UI"/>
              <a:ea typeface="Calibri"/>
              <a:cs typeface="Segoe UI"/>
            </a:endParaRPr>
          </a:p>
          <a:p>
            <a:r>
              <a:rPr lang="en-US" sz="1100" dirty="0">
                <a:ea typeface="+mn-lt"/>
                <a:cs typeface="+mn-lt"/>
              </a:rPr>
              <a:t>Set(</a:t>
            </a:r>
            <a:r>
              <a:rPr lang="en-US" sz="1100" dirty="0" err="1">
                <a:ea typeface="+mn-lt"/>
                <a:cs typeface="+mn-lt"/>
              </a:rPr>
              <a:t>TotalAmount</a:t>
            </a:r>
            <a:r>
              <a:rPr lang="en-US" sz="1100" dirty="0">
                <a:ea typeface="+mn-lt"/>
                <a:cs typeface="+mn-lt"/>
              </a:rPr>
              <a:t>, Value(</a:t>
            </a:r>
            <a:r>
              <a:rPr lang="en-US" sz="1100" dirty="0" err="1">
                <a:ea typeface="+mn-lt"/>
                <a:cs typeface="+mn-lt"/>
              </a:rPr>
              <a:t>TextInputAmount.Text</a:t>
            </a:r>
            <a:r>
              <a:rPr lang="en-US" sz="1100" dirty="0">
                <a:ea typeface="+mn-lt"/>
                <a:cs typeface="+mn-lt"/>
              </a:rPr>
              <a:t>))</a:t>
            </a:r>
            <a:endParaRPr lang="en-US" sz="1100" dirty="0">
              <a:latin typeface="Segoe UI"/>
              <a:ea typeface="Calibri"/>
              <a:cs typeface="Segoe UI"/>
            </a:endParaRPr>
          </a:p>
          <a:p>
            <a:endParaRPr lang="en-US" sz="1100" dirty="0">
              <a:ea typeface="Calibri"/>
              <a:cs typeface="Calibri"/>
            </a:endParaRPr>
          </a:p>
          <a:p>
            <a:endParaRPr lang="en-US" sz="1100" dirty="0">
              <a:ea typeface="Calibri"/>
              <a:cs typeface="Calibri"/>
            </a:endParaRPr>
          </a:p>
          <a:p>
            <a:r>
              <a:rPr lang="en-US" sz="1100" dirty="0">
                <a:latin typeface="Segoe UI"/>
                <a:ea typeface="Calibri"/>
                <a:cs typeface="Segoe UI"/>
              </a:rPr>
              <a:t>Screen2 → </a:t>
            </a:r>
            <a:r>
              <a:rPr lang="en-US" sz="1100" dirty="0" err="1">
                <a:latin typeface="Segoe UI"/>
                <a:ea typeface="Calibri"/>
                <a:cs typeface="Segoe UI"/>
              </a:rPr>
              <a:t>Label.Text</a:t>
            </a:r>
            <a:endParaRPr lang="en-US" sz="1100" dirty="0" err="1">
              <a:ea typeface="Calibri"/>
              <a:cs typeface="Calibri"/>
            </a:endParaRPr>
          </a:p>
          <a:p>
            <a:endParaRPr lang="en-US" sz="1100" dirty="0">
              <a:ea typeface="Calibri"/>
              <a:cs typeface="Calibri"/>
            </a:endParaRPr>
          </a:p>
          <a:p>
            <a:r>
              <a:rPr lang="en-US" sz="1100" dirty="0">
                <a:ea typeface="+mn-lt"/>
                <a:cs typeface="+mn-lt"/>
              </a:rPr>
              <a:t>"Your total is: ₹" &amp; </a:t>
            </a:r>
            <a:r>
              <a:rPr lang="en-US" sz="1100" dirty="0" err="1">
                <a:ea typeface="+mn-lt"/>
                <a:cs typeface="+mn-lt"/>
              </a:rPr>
              <a:t>TotalAmount</a:t>
            </a:r>
            <a:endParaRPr lang="en-US" sz="1100" dirty="0" err="1">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28847498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E7B51-4E05-E7A4-9CE8-9A064898FC6B}"/>
              </a:ext>
            </a:extLst>
          </p:cNvPr>
          <p:cNvSpPr>
            <a:spLocks noGrp="1"/>
          </p:cNvSpPr>
          <p:nvPr>
            <p:ph type="title"/>
          </p:nvPr>
        </p:nvSpPr>
        <p:spPr/>
        <p:txBody>
          <a:bodyPr/>
          <a:lstStyle/>
          <a:p>
            <a:r>
              <a:rPr lang="en-US">
                <a:ea typeface="Calibri"/>
                <a:cs typeface="Calibri"/>
              </a:rPr>
              <a:t>Context(Local) Variable</a:t>
            </a:r>
          </a:p>
        </p:txBody>
      </p:sp>
      <p:sp>
        <p:nvSpPr>
          <p:cNvPr id="3" name="Content Placeholder 2">
            <a:extLst>
              <a:ext uri="{FF2B5EF4-FFF2-40B4-BE49-F238E27FC236}">
                <a16:creationId xmlns:a16="http://schemas.microsoft.com/office/drawing/2014/main" id="{BFBB4EB2-9757-468C-39E8-16F684F768E4}"/>
              </a:ext>
            </a:extLst>
          </p:cNvPr>
          <p:cNvSpPr>
            <a:spLocks noGrp="1"/>
          </p:cNvSpPr>
          <p:nvPr>
            <p:ph idx="1"/>
          </p:nvPr>
        </p:nvSpPr>
        <p:spPr/>
        <p:txBody>
          <a:bodyPr vert="horz" lIns="91440" tIns="45720" rIns="91440" bIns="45720" rtlCol="0" anchor="t">
            <a:normAutofit/>
          </a:bodyPr>
          <a:lstStyle/>
          <a:p>
            <a:pPr marL="0" indent="0">
              <a:buNone/>
            </a:pPr>
            <a:endParaRPr lang="en-US" sz="1100" dirty="0">
              <a:latin typeface="Segoe UI"/>
              <a:ea typeface="Calibri"/>
              <a:cs typeface="Segoe UI"/>
            </a:endParaRPr>
          </a:p>
          <a:p>
            <a:pPr>
              <a:buNone/>
            </a:pPr>
            <a:r>
              <a:rPr lang="en-US" sz="1800" dirty="0" err="1">
                <a:latin typeface="Consolas"/>
                <a:ea typeface="Calibri"/>
                <a:cs typeface="Segoe UI"/>
              </a:rPr>
              <a:t>UpdateContext</a:t>
            </a:r>
            <a:r>
              <a:rPr lang="en-US" sz="1800" dirty="0">
                <a:latin typeface="Consolas"/>
                <a:ea typeface="Calibri"/>
                <a:cs typeface="Segoe UI"/>
              </a:rPr>
              <a:t>()</a:t>
            </a:r>
            <a:r>
              <a:rPr lang="en-US" sz="1100" dirty="0">
                <a:latin typeface="Segoe UI"/>
                <a:ea typeface="Calibri"/>
                <a:cs typeface="Segoe UI"/>
              </a:rPr>
              <a:t> is used to create or update </a:t>
            </a:r>
            <a:r>
              <a:rPr lang="en-US" sz="1100" b="1" dirty="0">
                <a:latin typeface="Segoe UI"/>
                <a:ea typeface="Calibri"/>
                <a:cs typeface="Segoe UI"/>
              </a:rPr>
              <a:t>context variables</a:t>
            </a:r>
            <a:r>
              <a:rPr lang="en-US" sz="1100" dirty="0">
                <a:latin typeface="Segoe UI"/>
                <a:ea typeface="Calibri"/>
                <a:cs typeface="Segoe UI"/>
              </a:rPr>
              <a:t> in </a:t>
            </a:r>
            <a:r>
              <a:rPr lang="en-US" sz="1100" b="1" dirty="0">
                <a:latin typeface="Segoe UI"/>
                <a:ea typeface="Calibri"/>
                <a:cs typeface="Segoe UI"/>
              </a:rPr>
              <a:t>canvas apps</a:t>
            </a:r>
            <a:r>
              <a:rPr lang="en-US" sz="1100" dirty="0">
                <a:latin typeface="Segoe UI"/>
                <a:ea typeface="Calibri"/>
                <a:cs typeface="Segoe UI"/>
              </a:rPr>
              <a:t>.</a:t>
            </a:r>
            <a:br>
              <a:rPr lang="en-US" sz="1100" dirty="0">
                <a:latin typeface="Segoe UI"/>
                <a:ea typeface="Calibri"/>
                <a:cs typeface="Segoe UI"/>
              </a:rPr>
            </a:br>
            <a:r>
              <a:rPr lang="en-US" sz="1100" dirty="0">
                <a:latin typeface="Segoe UI"/>
                <a:ea typeface="Calibri"/>
                <a:cs typeface="Segoe UI"/>
              </a:rPr>
              <a:t> Context variables are </a:t>
            </a:r>
            <a:r>
              <a:rPr lang="en-US" sz="1100" b="1" dirty="0">
                <a:latin typeface="Segoe UI"/>
                <a:ea typeface="Calibri"/>
                <a:cs typeface="Segoe UI"/>
              </a:rPr>
              <a:t>local variables</a:t>
            </a:r>
            <a:r>
              <a:rPr lang="en-US" sz="1100" dirty="0">
                <a:latin typeface="Segoe UI"/>
                <a:ea typeface="Calibri"/>
                <a:cs typeface="Segoe UI"/>
              </a:rPr>
              <a:t> that exist only on the current screen.</a:t>
            </a:r>
            <a:endParaRPr lang="en-US" dirty="0"/>
          </a:p>
          <a:p>
            <a:pPr>
              <a:buNone/>
            </a:pPr>
            <a:r>
              <a:rPr lang="en-US" sz="1100">
                <a:latin typeface="Segoe UI"/>
                <a:ea typeface="Calibri"/>
                <a:cs typeface="Segoe UI"/>
              </a:rPr>
              <a:t>They are perfect for:</a:t>
            </a:r>
            <a:endParaRPr lang="en-US"/>
          </a:p>
          <a:p>
            <a:r>
              <a:rPr lang="en-US" sz="1100">
                <a:latin typeface="Segoe UI"/>
                <a:ea typeface="Calibri"/>
                <a:cs typeface="Segoe UI"/>
              </a:rPr>
              <a:t>Storing temporary values</a:t>
            </a:r>
            <a:endParaRPr lang="en-US"/>
          </a:p>
          <a:p>
            <a:r>
              <a:rPr lang="en-US" sz="1100">
                <a:latin typeface="Segoe UI"/>
                <a:ea typeface="Calibri"/>
                <a:cs typeface="Segoe UI"/>
              </a:rPr>
              <a:t>Toggling UI elements</a:t>
            </a:r>
            <a:endParaRPr lang="en-US"/>
          </a:p>
          <a:p>
            <a:r>
              <a:rPr lang="en-US" sz="1100">
                <a:latin typeface="Segoe UI"/>
                <a:ea typeface="Calibri"/>
                <a:cs typeface="Segoe UI"/>
              </a:rPr>
              <a:t>Managing form states</a:t>
            </a:r>
            <a:endParaRPr lang="en-US"/>
          </a:p>
          <a:p>
            <a:r>
              <a:rPr lang="en-US" sz="1100">
                <a:latin typeface="Segoe UI"/>
                <a:ea typeface="Calibri"/>
                <a:cs typeface="Segoe UI"/>
              </a:rPr>
              <a:t>Passing values within a screen</a:t>
            </a:r>
            <a:endParaRPr lang="en-US"/>
          </a:p>
          <a:p>
            <a:endParaRPr lang="en-US" sz="1100" dirty="0">
              <a:latin typeface="Segoe UI"/>
              <a:ea typeface="+mn-lt"/>
              <a:cs typeface="Segoe UI"/>
            </a:endParaRPr>
          </a:p>
          <a:p>
            <a:r>
              <a:rPr lang="en-US" sz="1100">
                <a:latin typeface="Segoe UI"/>
                <a:ea typeface="+mn-lt"/>
                <a:cs typeface="Segoe UI"/>
              </a:rPr>
              <a:t>Syntax:</a:t>
            </a:r>
            <a:endParaRPr lang="en-US" sz="1100" dirty="0">
              <a:latin typeface="Segoe UI"/>
              <a:ea typeface="+mn-lt"/>
              <a:cs typeface="Segoe UI"/>
            </a:endParaRPr>
          </a:p>
          <a:p>
            <a:r>
              <a:rPr lang="en-US" sz="1100" dirty="0">
                <a:ea typeface="Calibri"/>
                <a:cs typeface="Calibri"/>
              </a:rPr>
              <a:t> </a:t>
            </a:r>
            <a:r>
              <a:rPr lang="en-US" sz="1100" dirty="0" err="1">
                <a:latin typeface="Segoe UI"/>
                <a:ea typeface="Calibri"/>
                <a:cs typeface="Segoe UI"/>
              </a:rPr>
              <a:t>UpdateContext</a:t>
            </a:r>
            <a:r>
              <a:rPr lang="en-US" sz="1100" dirty="0">
                <a:latin typeface="Segoe UI"/>
                <a:ea typeface="Calibri"/>
                <a:cs typeface="Segoe UI"/>
              </a:rPr>
              <a:t>({ </a:t>
            </a:r>
            <a:r>
              <a:rPr lang="en-US" sz="1100" dirty="0" err="1">
                <a:latin typeface="Segoe UI"/>
                <a:ea typeface="Calibri"/>
                <a:cs typeface="Segoe UI"/>
              </a:rPr>
              <a:t>VariableName</a:t>
            </a:r>
            <a:r>
              <a:rPr lang="en-US" sz="1100" dirty="0">
                <a:latin typeface="Segoe UI"/>
                <a:ea typeface="Calibri"/>
                <a:cs typeface="Segoe UI"/>
              </a:rPr>
              <a:t>: Value })</a:t>
            </a:r>
            <a:br>
              <a:rPr lang="en-US" sz="1100" dirty="0">
                <a:latin typeface="Segoe UI"/>
                <a:ea typeface="Calibri"/>
                <a:cs typeface="Segoe UI"/>
              </a:rPr>
            </a:br>
            <a:endParaRPr lang="en-US" sz="1100" dirty="0">
              <a:latin typeface="Segoe UI"/>
              <a:ea typeface="Calibri"/>
              <a:cs typeface="Segoe UI"/>
            </a:endParaRPr>
          </a:p>
          <a:p>
            <a:pPr>
              <a:buNone/>
            </a:pPr>
            <a:r>
              <a:rPr lang="en-US" sz="1100">
                <a:latin typeface="Segoe UI"/>
                <a:ea typeface="Calibri"/>
                <a:cs typeface="Segoe UI"/>
              </a:rPr>
              <a:t>Show more lines</a:t>
            </a:r>
            <a:endParaRPr lang="en-US"/>
          </a:p>
          <a:p>
            <a:r>
              <a:rPr lang="en-US" sz="1100" dirty="0" err="1">
                <a:latin typeface="Consolas"/>
                <a:ea typeface="Calibri"/>
                <a:cs typeface="Calibri"/>
              </a:rPr>
              <a:t>VariableName</a:t>
            </a:r>
            <a:r>
              <a:rPr lang="en-US" sz="1100" dirty="0">
                <a:latin typeface="Segoe UI"/>
                <a:ea typeface="Calibri"/>
                <a:cs typeface="Segoe UI"/>
              </a:rPr>
              <a:t> → name of your context variable</a:t>
            </a:r>
            <a:endParaRPr lang="en-US" dirty="0"/>
          </a:p>
          <a:p>
            <a:r>
              <a:rPr lang="en-US" sz="1100">
                <a:latin typeface="Consolas"/>
                <a:ea typeface="Calibri"/>
                <a:cs typeface="Calibri"/>
              </a:rPr>
              <a:t>Value</a:t>
            </a:r>
            <a:r>
              <a:rPr lang="en-US" sz="1100">
                <a:latin typeface="Segoe UI"/>
                <a:ea typeface="Calibri"/>
                <a:cs typeface="Segoe UI"/>
              </a:rPr>
              <a:t> → the value you want to assign</a:t>
            </a:r>
            <a:endParaRPr lang="en-US"/>
          </a:p>
          <a:p>
            <a:pPr marL="0" indent="0">
              <a:buNone/>
            </a:pPr>
            <a:endParaRPr lang="en-US" sz="1100" dirty="0">
              <a:latin typeface="Segoe UI"/>
              <a:ea typeface="Calibri"/>
              <a:cs typeface="Segoe UI"/>
            </a:endParaRPr>
          </a:p>
          <a:p>
            <a:pPr>
              <a:buNone/>
            </a:pPr>
            <a:r>
              <a:rPr lang="en-US" sz="1100" dirty="0" err="1">
                <a:latin typeface="Segoe UI"/>
                <a:ea typeface="+mn-lt"/>
                <a:cs typeface="Segoe UI"/>
              </a:rPr>
              <a:t>OnSelect</a:t>
            </a:r>
            <a:r>
              <a:rPr lang="en-US" sz="1100" dirty="0">
                <a:latin typeface="Segoe UI"/>
                <a:ea typeface="+mn-lt"/>
                <a:cs typeface="Segoe UI"/>
              </a:rPr>
              <a:t> property of a button:</a:t>
            </a:r>
            <a:endParaRPr lang="en-US" dirty="0"/>
          </a:p>
          <a:p>
            <a:pPr marL="0" indent="0">
              <a:buNone/>
            </a:pPr>
            <a:endParaRPr lang="en-US" sz="1100" dirty="0">
              <a:latin typeface="Segoe UI"/>
              <a:ea typeface="+mn-lt"/>
              <a:cs typeface="Segoe UI"/>
            </a:endParaRPr>
          </a:p>
          <a:p>
            <a:r>
              <a:rPr lang="en-US" sz="1100" dirty="0" err="1">
                <a:ea typeface="+mn-lt"/>
                <a:cs typeface="+mn-lt"/>
              </a:rPr>
              <a:t>UpdateContext</a:t>
            </a:r>
            <a:r>
              <a:rPr lang="en-US" sz="1100" dirty="0">
                <a:ea typeface="+mn-lt"/>
                <a:cs typeface="+mn-lt"/>
              </a:rPr>
              <a:t>({ </a:t>
            </a:r>
            <a:r>
              <a:rPr lang="en-US" sz="1100" dirty="0" err="1">
                <a:ea typeface="+mn-lt"/>
                <a:cs typeface="+mn-lt"/>
              </a:rPr>
              <a:t>showPopup</a:t>
            </a:r>
            <a:r>
              <a:rPr lang="en-US" sz="1100" dirty="0">
                <a:ea typeface="+mn-lt"/>
                <a:cs typeface="+mn-lt"/>
              </a:rPr>
              <a:t>: true })</a:t>
            </a:r>
            <a:endParaRPr lang="en-US" sz="1100" dirty="0">
              <a:latin typeface="Segoe UI"/>
              <a:ea typeface="Calibri"/>
              <a:cs typeface="Segoe UI"/>
            </a:endParaRPr>
          </a:p>
          <a:p>
            <a:r>
              <a:rPr lang="en-US" sz="1100">
                <a:ea typeface="+mn-lt"/>
                <a:cs typeface="+mn-lt"/>
              </a:rPr>
              <a:t>``</a:t>
            </a:r>
            <a:endParaRPr lang="en-US"/>
          </a:p>
          <a:p>
            <a:endParaRPr lang="en-US" sz="1100" dirty="0">
              <a:latin typeface="Segoe UI"/>
              <a:ea typeface="Calibri"/>
              <a:cs typeface="Segoe UI"/>
            </a:endParaRPr>
          </a:p>
          <a:p>
            <a:pPr marL="0" indent="0">
              <a:buNone/>
            </a:pPr>
            <a:endParaRPr lang="en-US" sz="1100" dirty="0">
              <a:ea typeface="Calibri"/>
              <a:cs typeface="Calibri"/>
            </a:endParaRPr>
          </a:p>
        </p:txBody>
      </p:sp>
    </p:spTree>
    <p:extLst>
      <p:ext uri="{BB962C8B-B14F-4D97-AF65-F5344CB8AC3E}">
        <p14:creationId xmlns:p14="http://schemas.microsoft.com/office/powerpoint/2010/main" val="22071527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710FF-A610-8D40-3918-3D70CBB78764}"/>
              </a:ext>
            </a:extLst>
          </p:cNvPr>
          <p:cNvSpPr>
            <a:spLocks noGrp="1"/>
          </p:cNvSpPr>
          <p:nvPr>
            <p:ph type="title"/>
          </p:nvPr>
        </p:nvSpPr>
        <p:spPr/>
        <p:txBody>
          <a:bodyPr/>
          <a:lstStyle/>
          <a:p>
            <a:r>
              <a:rPr lang="en-US">
                <a:ea typeface="Calibri"/>
                <a:cs typeface="Calibri"/>
              </a:rPr>
              <a:t>Navigate function</a:t>
            </a:r>
            <a:endParaRPr lang="en-US"/>
          </a:p>
        </p:txBody>
      </p:sp>
      <p:sp>
        <p:nvSpPr>
          <p:cNvPr id="3" name="Content Placeholder 2">
            <a:extLst>
              <a:ext uri="{FF2B5EF4-FFF2-40B4-BE49-F238E27FC236}">
                <a16:creationId xmlns:a16="http://schemas.microsoft.com/office/drawing/2014/main" id="{A4C78B8A-8442-FB0F-BC36-E03403BBFB38}"/>
              </a:ext>
            </a:extLst>
          </p:cNvPr>
          <p:cNvSpPr>
            <a:spLocks noGrp="1"/>
          </p:cNvSpPr>
          <p:nvPr>
            <p:ph idx="1"/>
          </p:nvPr>
        </p:nvSpPr>
        <p:spPr/>
        <p:txBody>
          <a:bodyPr vert="horz" lIns="91440" tIns="45720" rIns="91440" bIns="45720" rtlCol="0" anchor="t">
            <a:normAutofit/>
          </a:bodyPr>
          <a:lstStyle/>
          <a:p>
            <a:r>
              <a:rPr lang="en-US" sz="1100">
                <a:latin typeface="Segoe UI"/>
                <a:cs typeface="Segoe UI"/>
              </a:rPr>
              <a:t>Navigate() Function in Power Apps</a:t>
            </a:r>
            <a:endParaRPr lang="en-US">
              <a:ea typeface="Calibri"/>
              <a:cs typeface="Calibri"/>
            </a:endParaRPr>
          </a:p>
          <a:p>
            <a:r>
              <a:rPr lang="en-US" sz="1100">
                <a:latin typeface="Segoe UI"/>
                <a:ea typeface="Calibri"/>
                <a:cs typeface="Segoe UI"/>
              </a:rPr>
              <a:t>The </a:t>
            </a:r>
            <a:r>
              <a:rPr lang="en-US" sz="1100">
                <a:latin typeface="Consolas"/>
                <a:ea typeface="Calibri"/>
                <a:cs typeface="Calibri"/>
              </a:rPr>
              <a:t>Navigate()</a:t>
            </a:r>
            <a:r>
              <a:rPr lang="en-US" sz="1100">
                <a:latin typeface="Segoe UI"/>
                <a:ea typeface="Calibri"/>
                <a:cs typeface="Segoe UI"/>
              </a:rPr>
              <a:t> function is used to move from one screen to another.</a:t>
            </a:r>
            <a:endParaRPr lang="en-US" dirty="0">
              <a:ea typeface="Calibri"/>
              <a:cs typeface="Calibri"/>
            </a:endParaRPr>
          </a:p>
          <a:p>
            <a:endParaRPr lang="en-US" sz="1100" dirty="0">
              <a:latin typeface="Segoe UI"/>
              <a:ea typeface="Calibri"/>
              <a:cs typeface="Segoe UI"/>
            </a:endParaRPr>
          </a:p>
          <a:p>
            <a:r>
              <a:rPr lang="en-US" sz="1100" b="1" dirty="0" err="1">
                <a:latin typeface="Segoe UI"/>
                <a:ea typeface="Calibri"/>
                <a:cs typeface="Segoe UI"/>
              </a:rPr>
              <a:t>TargetScreen</a:t>
            </a:r>
            <a:r>
              <a:rPr lang="en-US" sz="1100" dirty="0">
                <a:latin typeface="Segoe UI"/>
                <a:ea typeface="Calibri"/>
                <a:cs typeface="Segoe UI"/>
              </a:rPr>
              <a:t> → the screen you want to open</a:t>
            </a:r>
            <a:endParaRPr lang="en-US" dirty="0">
              <a:ea typeface="Calibri"/>
              <a:cs typeface="Calibri"/>
            </a:endParaRPr>
          </a:p>
          <a:p>
            <a:r>
              <a:rPr lang="en-US" sz="1100" b="1" dirty="0" err="1">
                <a:latin typeface="Segoe UI"/>
                <a:ea typeface="Calibri"/>
                <a:cs typeface="Segoe UI"/>
              </a:rPr>
              <a:t>TransitionType</a:t>
            </a:r>
            <a:r>
              <a:rPr lang="en-US" sz="1100" dirty="0">
                <a:latin typeface="Segoe UI"/>
                <a:ea typeface="Calibri"/>
                <a:cs typeface="Segoe UI"/>
              </a:rPr>
              <a:t> → animation effect (optional)</a:t>
            </a:r>
            <a:endParaRPr lang="en-US" dirty="0">
              <a:ea typeface="Calibri"/>
              <a:cs typeface="Calibri"/>
            </a:endParaRPr>
          </a:p>
          <a:p>
            <a:pPr marL="0" indent="0">
              <a:buNone/>
            </a:pPr>
            <a:endParaRPr lang="en-US" sz="1100" b="1" dirty="0">
              <a:latin typeface="Segoe UI"/>
              <a:ea typeface="Calibri"/>
              <a:cs typeface="Segoe UI"/>
            </a:endParaRPr>
          </a:p>
          <a:p>
            <a:r>
              <a:rPr lang="en-US" sz="1100" b="1">
                <a:latin typeface="Segoe UI"/>
                <a:ea typeface="Calibri"/>
                <a:cs typeface="Segoe UI"/>
              </a:rPr>
              <a:t>Common transition types:</a:t>
            </a:r>
            <a:endParaRPr lang="en-US" b="1"/>
          </a:p>
          <a:p>
            <a:r>
              <a:rPr lang="en-US" sz="1100" dirty="0" err="1">
                <a:latin typeface="Consolas"/>
                <a:ea typeface="Calibri"/>
                <a:cs typeface="Calibri"/>
              </a:rPr>
              <a:t>ScreenTransition.None</a:t>
            </a:r>
            <a:endParaRPr lang="en-US" dirty="0" err="1"/>
          </a:p>
          <a:p>
            <a:r>
              <a:rPr lang="en-US" sz="1100" dirty="0" err="1">
                <a:latin typeface="Consolas"/>
                <a:ea typeface="Calibri"/>
                <a:cs typeface="Calibri"/>
              </a:rPr>
              <a:t>ScreenTransition.Fade</a:t>
            </a:r>
            <a:endParaRPr lang="en-US" dirty="0" err="1"/>
          </a:p>
          <a:p>
            <a:r>
              <a:rPr lang="en-US" sz="1100" dirty="0" err="1">
                <a:latin typeface="Consolas"/>
                <a:ea typeface="Calibri"/>
                <a:cs typeface="Calibri"/>
              </a:rPr>
              <a:t>ScreenTransition.Cover</a:t>
            </a:r>
            <a:endParaRPr lang="en-US" dirty="0" err="1"/>
          </a:p>
          <a:p>
            <a:r>
              <a:rPr lang="en-US" sz="1100" dirty="0" err="1">
                <a:latin typeface="Consolas"/>
                <a:ea typeface="Calibri"/>
                <a:cs typeface="Calibri"/>
              </a:rPr>
              <a:t>ScreenTransition.UnCover</a:t>
            </a:r>
            <a:endParaRPr lang="en-US" dirty="0" err="1"/>
          </a:p>
          <a:p>
            <a:endParaRPr lang="en-US" sz="1100" dirty="0">
              <a:latin typeface="Consolas"/>
              <a:ea typeface="Calibri"/>
              <a:cs typeface="Calibri"/>
            </a:endParaRPr>
          </a:p>
          <a:p>
            <a:r>
              <a:rPr lang="en-US" sz="1100">
                <a:latin typeface="Segoe UI"/>
                <a:ea typeface="Calibri"/>
                <a:cs typeface="Segoe UI"/>
              </a:rPr>
              <a:t>Navigate from Screen1 to Screen2</a:t>
            </a:r>
            <a:endParaRPr lang="en-US" sz="1100" dirty="0">
              <a:latin typeface="Consolas"/>
              <a:ea typeface="Calibri"/>
              <a:cs typeface="Calibri"/>
            </a:endParaRPr>
          </a:p>
          <a:p>
            <a:r>
              <a:rPr lang="en-US" sz="1100" dirty="0">
                <a:latin typeface="Segoe UI"/>
                <a:ea typeface="Calibri"/>
                <a:cs typeface="Segoe UI"/>
              </a:rPr>
              <a:t>Button on Screen1 → </a:t>
            </a:r>
            <a:r>
              <a:rPr lang="en-US" sz="1100" dirty="0" err="1">
                <a:latin typeface="Segoe UI"/>
                <a:ea typeface="Calibri"/>
                <a:cs typeface="Segoe UI"/>
              </a:rPr>
              <a:t>OnSelect</a:t>
            </a:r>
            <a:endParaRPr lang="en-US" sz="1100" dirty="0" err="1">
              <a:latin typeface="Consolas"/>
              <a:ea typeface="Calibri"/>
              <a:cs typeface="Calibri"/>
            </a:endParaRPr>
          </a:p>
          <a:p>
            <a:endParaRPr lang="en-US" sz="1100" dirty="0">
              <a:latin typeface="Consolas"/>
              <a:ea typeface="Calibri"/>
              <a:cs typeface="Calibri"/>
            </a:endParaRPr>
          </a:p>
          <a:p>
            <a:r>
              <a:rPr lang="en-US" sz="1100" dirty="0">
                <a:ea typeface="+mn-lt"/>
                <a:cs typeface="+mn-lt"/>
              </a:rPr>
              <a:t>Navigate(Screen2, </a:t>
            </a:r>
            <a:r>
              <a:rPr lang="en-US" sz="1100" dirty="0" err="1">
                <a:ea typeface="+mn-lt"/>
                <a:cs typeface="+mn-lt"/>
              </a:rPr>
              <a:t>ScreenTransition.Fade</a:t>
            </a:r>
            <a:r>
              <a:rPr lang="en-US" sz="1100" dirty="0">
                <a:ea typeface="+mn-lt"/>
                <a:cs typeface="+mn-lt"/>
              </a:rPr>
              <a:t>)</a:t>
            </a:r>
            <a:endParaRPr lang="en-US" sz="1100" dirty="0">
              <a:latin typeface="Consolas"/>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25535888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71549-9C49-7979-2CA6-B7D01CB70BF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32B516-9334-C481-77E9-6D1A8CF9710F}"/>
              </a:ext>
            </a:extLst>
          </p:cNvPr>
          <p:cNvSpPr>
            <a:spLocks noGrp="1"/>
          </p:cNvSpPr>
          <p:nvPr>
            <p:ph idx="1"/>
          </p:nvPr>
        </p:nvSpPr>
        <p:spPr/>
        <p:txBody>
          <a:bodyPr vert="horz" lIns="91440" tIns="45720" rIns="91440" bIns="45720" rtlCol="0" anchor="t">
            <a:normAutofit/>
          </a:bodyPr>
          <a:lstStyle/>
          <a:p>
            <a:r>
              <a:rPr lang="en-US" dirty="0">
                <a:ea typeface="Calibri"/>
                <a:cs typeface="Calibri"/>
              </a:rPr>
              <a:t>Concurrent function</a:t>
            </a:r>
            <a:r>
              <a:rPr lang="en-US" dirty="0">
                <a:latin typeface="Calibri"/>
                <a:ea typeface="Calibri"/>
                <a:cs typeface="Calibri"/>
              </a:rPr>
              <a:t> : </a:t>
            </a:r>
            <a:r>
              <a:rPr lang="en-US" sz="1100" dirty="0">
                <a:latin typeface="Segoe UI"/>
                <a:ea typeface="Calibri"/>
                <a:cs typeface="Segoe UI"/>
              </a:rPr>
              <a:t>function lets you run </a:t>
            </a:r>
            <a:r>
              <a:rPr lang="en-US" sz="1100" b="1" dirty="0">
                <a:latin typeface="Segoe UI"/>
                <a:ea typeface="Calibri"/>
                <a:cs typeface="Segoe UI"/>
              </a:rPr>
              <a:t>multiple independent formulas at the same time</a:t>
            </a:r>
            <a:r>
              <a:rPr lang="en-US" sz="1100" dirty="0">
                <a:latin typeface="Segoe UI"/>
                <a:ea typeface="Calibri"/>
                <a:cs typeface="Segoe UI"/>
              </a:rPr>
              <a:t> (in parallel). It’s useful when you want to </a:t>
            </a:r>
            <a:r>
              <a:rPr lang="en-US" sz="1100" b="1" dirty="0">
                <a:latin typeface="Segoe UI"/>
                <a:ea typeface="Calibri"/>
                <a:cs typeface="Segoe UI"/>
              </a:rPr>
              <a:t>reduce screen/app load time</a:t>
            </a:r>
            <a:r>
              <a:rPr lang="en-US" sz="1100" dirty="0">
                <a:latin typeface="Segoe UI"/>
                <a:ea typeface="Calibri"/>
                <a:cs typeface="Segoe UI"/>
              </a:rPr>
              <a:t> by not waiting for one operation to finish before starting the next—especially for </a:t>
            </a:r>
            <a:r>
              <a:rPr lang="en-US" sz="1100" b="1" dirty="0">
                <a:latin typeface="Segoe UI"/>
                <a:ea typeface="Calibri"/>
                <a:cs typeface="Segoe UI"/>
              </a:rPr>
              <a:t>data calls</a:t>
            </a:r>
            <a:r>
              <a:rPr lang="en-US" sz="1100" dirty="0">
                <a:latin typeface="Segoe UI"/>
                <a:ea typeface="Calibri"/>
                <a:cs typeface="Segoe UI"/>
              </a:rPr>
              <a:t> and </a:t>
            </a:r>
            <a:r>
              <a:rPr lang="en-US" sz="1100" b="1" dirty="0">
                <a:latin typeface="Segoe UI"/>
                <a:ea typeface="Calibri"/>
                <a:cs typeface="Segoe UI"/>
              </a:rPr>
              <a:t>collections</a:t>
            </a:r>
            <a:r>
              <a:rPr lang="en-US" sz="1100" dirty="0">
                <a:latin typeface="Segoe UI"/>
                <a:ea typeface="Calibri"/>
                <a:cs typeface="Segoe UI"/>
              </a:rPr>
              <a:t>.</a:t>
            </a:r>
            <a:endParaRPr lang="en-US" dirty="0">
              <a:ea typeface="Calibri"/>
              <a:cs typeface="Calibri"/>
            </a:endParaRPr>
          </a:p>
          <a:p>
            <a:endParaRPr lang="en-US" sz="1100" dirty="0">
              <a:latin typeface="Segoe UI"/>
              <a:ea typeface="Calibri"/>
              <a:cs typeface="Segoe UI"/>
            </a:endParaRPr>
          </a:p>
          <a:p>
            <a:r>
              <a:rPr lang="en-US" sz="1100">
                <a:ea typeface="+mn-lt"/>
                <a:cs typeface="+mn-lt"/>
              </a:rPr>
              <a:t>Concurrent(</a:t>
            </a:r>
            <a:endParaRPr lang="en-US" sz="1100" dirty="0">
              <a:latin typeface="Segoe UI"/>
              <a:ea typeface="Calibri"/>
              <a:cs typeface="Segoe UI"/>
            </a:endParaRPr>
          </a:p>
          <a:p>
            <a:r>
              <a:rPr lang="en-US" sz="1100">
                <a:ea typeface="+mn-lt"/>
                <a:cs typeface="+mn-lt"/>
              </a:rPr>
              <a:t>    Formula1,</a:t>
            </a:r>
            <a:endParaRPr lang="en-US"/>
          </a:p>
          <a:p>
            <a:r>
              <a:rPr lang="en-US" sz="1100">
                <a:ea typeface="+mn-lt"/>
                <a:cs typeface="+mn-lt"/>
              </a:rPr>
              <a:t>    Formula2,</a:t>
            </a:r>
            <a:endParaRPr lang="en-US"/>
          </a:p>
          <a:p>
            <a:r>
              <a:rPr lang="en-US" sz="1100">
                <a:ea typeface="+mn-lt"/>
                <a:cs typeface="+mn-lt"/>
              </a:rPr>
              <a:t>    ...,</a:t>
            </a:r>
            <a:endParaRPr lang="en-US"/>
          </a:p>
          <a:p>
            <a:r>
              <a:rPr lang="en-US" sz="1100" dirty="0">
                <a:ea typeface="+mn-lt"/>
                <a:cs typeface="+mn-lt"/>
              </a:rPr>
              <a:t>    </a:t>
            </a:r>
            <a:r>
              <a:rPr lang="en-US" sz="1100" dirty="0" err="1">
                <a:ea typeface="+mn-lt"/>
                <a:cs typeface="+mn-lt"/>
              </a:rPr>
              <a:t>FormulaN</a:t>
            </a:r>
            <a:endParaRPr lang="en-US" dirty="0" err="1"/>
          </a:p>
          <a:p>
            <a:r>
              <a:rPr lang="en-US" sz="1100">
                <a:ea typeface="+mn-lt"/>
                <a:cs typeface="+mn-lt"/>
              </a:rPr>
              <a:t>)</a:t>
            </a:r>
            <a:endParaRPr lang="en-US"/>
          </a:p>
          <a:p>
            <a:r>
              <a:rPr lang="en-US"/>
              <a:t>When to use </a:t>
            </a:r>
            <a:r>
              <a:rPr lang="en-US">
                <a:latin typeface="Consolas"/>
                <a:ea typeface="Calibri"/>
                <a:cs typeface="Segoe UI"/>
              </a:rPr>
              <a:t>Concurrent</a:t>
            </a:r>
            <a:endParaRPr lang="en-US" sz="1100" dirty="0">
              <a:latin typeface="Segoe UI"/>
              <a:ea typeface="Calibri"/>
              <a:cs typeface="Segoe UI"/>
            </a:endParaRPr>
          </a:p>
          <a:p>
            <a:r>
              <a:rPr lang="en-US" sz="1100" dirty="0">
                <a:latin typeface="Segoe UI"/>
                <a:ea typeface="Calibri"/>
                <a:cs typeface="Segoe UI"/>
              </a:rPr>
              <a:t>Loading multiple tables/collections on app </a:t>
            </a:r>
            <a:r>
              <a:rPr lang="en-US" sz="1100" b="1" dirty="0" err="1">
                <a:latin typeface="Segoe UI"/>
                <a:ea typeface="Calibri"/>
                <a:cs typeface="Segoe UI"/>
              </a:rPr>
              <a:t>OnStart</a:t>
            </a:r>
            <a:r>
              <a:rPr lang="en-US" sz="1100" dirty="0">
                <a:latin typeface="Segoe UI"/>
                <a:ea typeface="Calibri"/>
                <a:cs typeface="Segoe UI"/>
              </a:rPr>
              <a:t> or screen </a:t>
            </a:r>
            <a:r>
              <a:rPr lang="en-US" sz="1100" b="1" dirty="0" err="1">
                <a:latin typeface="Segoe UI"/>
                <a:ea typeface="Calibri"/>
                <a:cs typeface="Segoe UI"/>
              </a:rPr>
              <a:t>OnVisible</a:t>
            </a:r>
            <a:r>
              <a:rPr lang="en-US" sz="1100" dirty="0">
                <a:latin typeface="Segoe UI"/>
                <a:ea typeface="Calibri"/>
                <a:cs typeface="Segoe UI"/>
              </a:rPr>
              <a:t>.</a:t>
            </a:r>
            <a:endParaRPr lang="en-US" dirty="0"/>
          </a:p>
          <a:p>
            <a:r>
              <a:rPr lang="en-US" sz="1100">
                <a:latin typeface="Segoe UI"/>
                <a:ea typeface="Calibri"/>
                <a:cs typeface="Segoe UI"/>
              </a:rPr>
              <a:t>Performing several </a:t>
            </a:r>
            <a:r>
              <a:rPr lang="en-US" sz="1100" b="1">
                <a:latin typeface="Segoe UI"/>
                <a:ea typeface="Calibri"/>
                <a:cs typeface="Segoe UI"/>
              </a:rPr>
              <a:t>API/data source</a:t>
            </a:r>
            <a:r>
              <a:rPr lang="en-US" sz="1100">
                <a:latin typeface="Segoe UI"/>
                <a:ea typeface="Calibri"/>
                <a:cs typeface="Segoe UI"/>
              </a:rPr>
              <a:t> calls simultaneously.</a:t>
            </a:r>
            <a:endParaRPr lang="en-US"/>
          </a:p>
          <a:p>
            <a:r>
              <a:rPr lang="en-US" sz="1100" dirty="0">
                <a:latin typeface="Segoe UI"/>
                <a:ea typeface="Calibri"/>
                <a:cs typeface="Segoe UI"/>
              </a:rPr>
              <a:t>Doing multiple </a:t>
            </a:r>
            <a:r>
              <a:rPr lang="en-US" sz="1100" b="1" dirty="0">
                <a:latin typeface="Segoe UI"/>
                <a:ea typeface="Calibri"/>
                <a:cs typeface="Segoe UI"/>
              </a:rPr>
              <a:t>Patches/Collects</a:t>
            </a:r>
            <a:r>
              <a:rPr lang="en-US" sz="1100" dirty="0">
                <a:latin typeface="Segoe UI"/>
                <a:ea typeface="Calibri"/>
                <a:cs typeface="Segoe UI"/>
              </a:rPr>
              <a:t> that don’t rely on each other.</a:t>
            </a:r>
            <a:endParaRPr lang="en-US" dirty="0"/>
          </a:p>
          <a:p>
            <a:r>
              <a:rPr lang="en-US" sz="1100">
                <a:latin typeface="Segoe UI"/>
                <a:ea typeface="Calibri"/>
                <a:cs typeface="Segoe UI"/>
              </a:rPr>
              <a:t>Initializing </a:t>
            </a:r>
            <a:r>
              <a:rPr lang="en-US" sz="1100" b="1">
                <a:latin typeface="Segoe UI"/>
                <a:ea typeface="Calibri"/>
                <a:cs typeface="Segoe UI"/>
              </a:rPr>
              <a:t>context/global variables</a:t>
            </a:r>
            <a:r>
              <a:rPr lang="en-US" sz="1100">
                <a:latin typeface="Segoe UI"/>
                <a:ea typeface="Calibri"/>
                <a:cs typeface="Segoe UI"/>
              </a:rPr>
              <a:t> in parallel.</a:t>
            </a:r>
            <a:endParaRPr lang="en-US"/>
          </a:p>
          <a:p>
            <a:endParaRPr lang="en-US" sz="1100" dirty="0">
              <a:latin typeface="Segoe UI"/>
              <a:ea typeface="Calibri"/>
              <a:cs typeface="Segoe UI"/>
            </a:endParaRPr>
          </a:p>
          <a:p>
            <a:endParaRPr lang="en-US" dirty="0">
              <a:ea typeface="Calibri"/>
              <a:cs typeface="Calibri"/>
            </a:endParaRPr>
          </a:p>
        </p:txBody>
      </p:sp>
    </p:spTree>
    <p:extLst>
      <p:ext uri="{BB962C8B-B14F-4D97-AF65-F5344CB8AC3E}">
        <p14:creationId xmlns:p14="http://schemas.microsoft.com/office/powerpoint/2010/main" val="17960727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7648E-A0B1-A82D-6D34-EA345D1BE364}"/>
              </a:ext>
            </a:extLst>
          </p:cNvPr>
          <p:cNvSpPr>
            <a:spLocks noGrp="1"/>
          </p:cNvSpPr>
          <p:nvPr>
            <p:ph type="title"/>
          </p:nvPr>
        </p:nvSpPr>
        <p:spPr/>
        <p:txBody>
          <a:bodyPr/>
          <a:lstStyle/>
          <a:p>
            <a:r>
              <a:rPr lang="en-US">
                <a:ea typeface="Calibri"/>
                <a:cs typeface="Calibri"/>
              </a:rPr>
              <a:t>Concurrent function</a:t>
            </a:r>
            <a:endParaRPr lang="en-US"/>
          </a:p>
        </p:txBody>
      </p:sp>
      <p:sp>
        <p:nvSpPr>
          <p:cNvPr id="3" name="Content Placeholder 2">
            <a:extLst>
              <a:ext uri="{FF2B5EF4-FFF2-40B4-BE49-F238E27FC236}">
                <a16:creationId xmlns:a16="http://schemas.microsoft.com/office/drawing/2014/main" id="{3896AF8C-ADAF-045A-A806-F64465AAF1A8}"/>
              </a:ext>
            </a:extLst>
          </p:cNvPr>
          <p:cNvSpPr>
            <a:spLocks noGrp="1"/>
          </p:cNvSpPr>
          <p:nvPr>
            <p:ph idx="1"/>
          </p:nvPr>
        </p:nvSpPr>
        <p:spPr/>
        <p:txBody>
          <a:bodyPr vert="horz" lIns="91440" tIns="45720" rIns="91440" bIns="45720" rtlCol="0" anchor="t">
            <a:normAutofit/>
          </a:bodyPr>
          <a:lstStyle/>
          <a:p>
            <a:r>
              <a:rPr lang="en-US">
                <a:ea typeface="Calibri"/>
                <a:cs typeface="Calibri"/>
              </a:rPr>
              <a:t>Concurrent function  </a:t>
            </a:r>
            <a:endParaRPr lang="en-US">
              <a:latin typeface="Calibri"/>
              <a:ea typeface="Calibri"/>
              <a:cs typeface="Calibri"/>
            </a:endParaRPr>
          </a:p>
          <a:p>
            <a:endParaRPr lang="en-US" sz="1100" dirty="0">
              <a:latin typeface="Segoe UI"/>
              <a:ea typeface="Calibri"/>
              <a:cs typeface="Segoe UI"/>
            </a:endParaRPr>
          </a:p>
          <a:p>
            <a:r>
              <a:rPr lang="en-US" sz="1100" dirty="0">
                <a:latin typeface="Segoe UI"/>
                <a:ea typeface="Calibri"/>
                <a:cs typeface="Segoe UI"/>
              </a:rPr>
              <a:t>Load multiple data sources in parallel (Screen </a:t>
            </a:r>
            <a:r>
              <a:rPr lang="en-US" sz="1100" b="1" dirty="0" err="1">
                <a:latin typeface="Segoe UI"/>
                <a:ea typeface="Calibri"/>
                <a:cs typeface="Segoe UI"/>
              </a:rPr>
              <a:t>OnVisible</a:t>
            </a:r>
            <a:r>
              <a:rPr lang="en-US" sz="1100" dirty="0">
                <a:latin typeface="Segoe UI"/>
                <a:ea typeface="Calibri"/>
                <a:cs typeface="Segoe UI"/>
              </a:rPr>
              <a:t> or App </a:t>
            </a:r>
            <a:r>
              <a:rPr lang="en-US" sz="1100" b="1" dirty="0" err="1">
                <a:latin typeface="Segoe UI"/>
                <a:ea typeface="Calibri"/>
                <a:cs typeface="Segoe UI"/>
              </a:rPr>
              <a:t>OnStart</a:t>
            </a:r>
            <a:r>
              <a:rPr lang="en-US" sz="1100" dirty="0">
                <a:latin typeface="Segoe UI"/>
                <a:ea typeface="Calibri"/>
                <a:cs typeface="Segoe UI"/>
              </a:rPr>
              <a:t>)</a:t>
            </a:r>
            <a:endParaRPr lang="en-US">
              <a:ea typeface="Calibri"/>
              <a:cs typeface="Calibri"/>
            </a:endParaRPr>
          </a:p>
          <a:p>
            <a:endParaRPr lang="en-US" sz="1100" dirty="0">
              <a:latin typeface="Segoe UI"/>
              <a:ea typeface="Calibri"/>
              <a:cs typeface="Segoe UI"/>
            </a:endParaRPr>
          </a:p>
          <a:p>
            <a:r>
              <a:rPr lang="en-US" sz="1100">
                <a:ea typeface="+mn-lt"/>
                <a:cs typeface="+mn-lt"/>
              </a:rPr>
              <a:t>Concurrent(</a:t>
            </a:r>
            <a:endParaRPr lang="en-US" sz="1100" dirty="0">
              <a:latin typeface="Segoe UI"/>
              <a:ea typeface="Calibri"/>
              <a:cs typeface="Segoe UI"/>
            </a:endParaRPr>
          </a:p>
          <a:p>
            <a:r>
              <a:rPr lang="en-US" sz="1100" dirty="0">
                <a:ea typeface="+mn-lt"/>
                <a:cs typeface="+mn-lt"/>
              </a:rPr>
              <a:t>    </a:t>
            </a:r>
            <a:r>
              <a:rPr lang="en-US" sz="1100" dirty="0" err="1">
                <a:ea typeface="+mn-lt"/>
                <a:cs typeface="+mn-lt"/>
              </a:rPr>
              <a:t>ClearCollect</a:t>
            </a:r>
            <a:r>
              <a:rPr lang="en-US" sz="1100" dirty="0">
                <a:ea typeface="+mn-lt"/>
                <a:cs typeface="+mn-lt"/>
              </a:rPr>
              <a:t>(</a:t>
            </a:r>
            <a:r>
              <a:rPr lang="en-US" sz="1100" dirty="0" err="1">
                <a:ea typeface="+mn-lt"/>
                <a:cs typeface="+mn-lt"/>
              </a:rPr>
              <a:t>colProducts</a:t>
            </a:r>
            <a:r>
              <a:rPr lang="en-US" sz="1100" dirty="0">
                <a:ea typeface="+mn-lt"/>
                <a:cs typeface="+mn-lt"/>
              </a:rPr>
              <a:t>, Filter(Products, </a:t>
            </a:r>
            <a:r>
              <a:rPr lang="en-US" sz="1100" dirty="0" err="1">
                <a:ea typeface="+mn-lt"/>
                <a:cs typeface="+mn-lt"/>
              </a:rPr>
              <a:t>IsActive</a:t>
            </a:r>
            <a:r>
              <a:rPr lang="en-US" sz="1100" dirty="0">
                <a:ea typeface="+mn-lt"/>
                <a:cs typeface="+mn-lt"/>
              </a:rPr>
              <a:t>)),</a:t>
            </a:r>
            <a:endParaRPr lang="en-US" dirty="0"/>
          </a:p>
          <a:p>
            <a:r>
              <a:rPr lang="en-US" sz="1100" dirty="0">
                <a:ea typeface="+mn-lt"/>
                <a:cs typeface="+mn-lt"/>
              </a:rPr>
              <a:t>    </a:t>
            </a:r>
            <a:r>
              <a:rPr lang="en-US" sz="1100" dirty="0" err="1">
                <a:ea typeface="+mn-lt"/>
                <a:cs typeface="+mn-lt"/>
              </a:rPr>
              <a:t>ClearCollect</a:t>
            </a:r>
            <a:r>
              <a:rPr lang="en-US" sz="1100" dirty="0">
                <a:ea typeface="+mn-lt"/>
                <a:cs typeface="+mn-lt"/>
              </a:rPr>
              <a:t>(</a:t>
            </a:r>
            <a:r>
              <a:rPr lang="en-US" sz="1100" dirty="0" err="1">
                <a:ea typeface="+mn-lt"/>
                <a:cs typeface="+mn-lt"/>
              </a:rPr>
              <a:t>colCustomers</a:t>
            </a:r>
            <a:r>
              <a:rPr lang="en-US" sz="1100" dirty="0">
                <a:ea typeface="+mn-lt"/>
                <a:cs typeface="+mn-lt"/>
              </a:rPr>
              <a:t>, Customers),</a:t>
            </a:r>
            <a:endParaRPr lang="en-US" dirty="0"/>
          </a:p>
          <a:p>
            <a:r>
              <a:rPr lang="en-US" sz="1100" dirty="0">
                <a:ea typeface="+mn-lt"/>
                <a:cs typeface="+mn-lt"/>
              </a:rPr>
              <a:t>    </a:t>
            </a:r>
            <a:r>
              <a:rPr lang="en-US" sz="1100" dirty="0" err="1">
                <a:ea typeface="+mn-lt"/>
                <a:cs typeface="+mn-lt"/>
              </a:rPr>
              <a:t>ClearCollect</a:t>
            </a:r>
            <a:r>
              <a:rPr lang="en-US" sz="1100" dirty="0">
                <a:ea typeface="+mn-lt"/>
                <a:cs typeface="+mn-lt"/>
              </a:rPr>
              <a:t>(</a:t>
            </a:r>
            <a:r>
              <a:rPr lang="en-US" sz="1100" dirty="0" err="1">
                <a:ea typeface="+mn-lt"/>
                <a:cs typeface="+mn-lt"/>
              </a:rPr>
              <a:t>colOrders</a:t>
            </a:r>
            <a:r>
              <a:rPr lang="en-US" sz="1100" dirty="0">
                <a:ea typeface="+mn-lt"/>
                <a:cs typeface="+mn-lt"/>
              </a:rPr>
              <a:t>, Filter(Orders, Status = "Open")),</a:t>
            </a:r>
            <a:endParaRPr lang="en-US" dirty="0"/>
          </a:p>
          <a:p>
            <a:r>
              <a:rPr lang="en-US" sz="1100" dirty="0">
                <a:ea typeface="+mn-lt"/>
                <a:cs typeface="+mn-lt"/>
              </a:rPr>
              <a:t>    Set(</a:t>
            </a:r>
            <a:r>
              <a:rPr lang="en-US" sz="1100" dirty="0" err="1">
                <a:ea typeface="+mn-lt"/>
                <a:cs typeface="+mn-lt"/>
              </a:rPr>
              <a:t>gstRate</a:t>
            </a:r>
            <a:r>
              <a:rPr lang="en-US" sz="1100" dirty="0">
                <a:ea typeface="+mn-lt"/>
                <a:cs typeface="+mn-lt"/>
              </a:rPr>
              <a:t>, 0.18)</a:t>
            </a:r>
            <a:endParaRPr lang="en-US" dirty="0"/>
          </a:p>
          <a:p>
            <a:endParaRPr lang="en-US" sz="1100" dirty="0">
              <a:ea typeface="+mn-lt"/>
              <a:cs typeface="+mn-lt"/>
            </a:endParaRPr>
          </a:p>
          <a:p>
            <a:r>
              <a:rPr lang="en-US" sz="1100">
                <a:latin typeface="Segoe UI"/>
                <a:ea typeface="+mn-lt"/>
                <a:cs typeface="Segoe UI"/>
              </a:rPr>
              <a:t>Parallel API calls into separate collections</a:t>
            </a:r>
            <a:endParaRPr lang="en-US" sz="1100" dirty="0">
              <a:ea typeface="+mn-lt"/>
              <a:cs typeface="+mn-lt"/>
            </a:endParaRPr>
          </a:p>
          <a:p>
            <a:endParaRPr lang="en-US" sz="1100" dirty="0">
              <a:ea typeface="+mn-lt"/>
              <a:cs typeface="+mn-lt"/>
            </a:endParaRPr>
          </a:p>
          <a:p>
            <a:r>
              <a:rPr lang="en-US" sz="1100">
                <a:ea typeface="+mn-lt"/>
                <a:cs typeface="+mn-lt"/>
              </a:rPr>
              <a:t>Concurrent(</a:t>
            </a:r>
            <a:endParaRPr lang="en-US">
              <a:ea typeface="+mn-lt"/>
              <a:cs typeface="+mn-lt"/>
            </a:endParaRPr>
          </a:p>
          <a:p>
            <a:r>
              <a:rPr lang="en-US" sz="1100" dirty="0">
                <a:ea typeface="+mn-lt"/>
                <a:cs typeface="+mn-lt"/>
              </a:rPr>
              <a:t>    </a:t>
            </a:r>
            <a:r>
              <a:rPr lang="en-US" sz="1100" dirty="0" err="1">
                <a:ea typeface="+mn-lt"/>
                <a:cs typeface="+mn-lt"/>
              </a:rPr>
              <a:t>ClearCollect</a:t>
            </a:r>
            <a:r>
              <a:rPr lang="en-US" sz="1100" dirty="0">
                <a:ea typeface="+mn-lt"/>
                <a:cs typeface="+mn-lt"/>
              </a:rPr>
              <a:t>(</a:t>
            </a:r>
            <a:r>
              <a:rPr lang="en-US" sz="1100" dirty="0" err="1">
                <a:ea typeface="+mn-lt"/>
                <a:cs typeface="+mn-lt"/>
              </a:rPr>
              <a:t>colWeather</a:t>
            </a:r>
            <a:r>
              <a:rPr lang="en-US" sz="1100" dirty="0">
                <a:ea typeface="+mn-lt"/>
                <a:cs typeface="+mn-lt"/>
              </a:rPr>
              <a:t>, </a:t>
            </a:r>
            <a:r>
              <a:rPr lang="en-US" sz="1100" dirty="0" err="1">
                <a:ea typeface="+mn-lt"/>
                <a:cs typeface="+mn-lt"/>
              </a:rPr>
              <a:t>WeatherConnector.GetToday</a:t>
            </a:r>
            <a:r>
              <a:rPr lang="en-US" sz="1100" dirty="0">
                <a:ea typeface="+mn-lt"/>
                <a:cs typeface="+mn-lt"/>
              </a:rPr>
              <a:t>(</a:t>
            </a:r>
            <a:r>
              <a:rPr lang="en-US" sz="1100" dirty="0" err="1">
                <a:ea typeface="+mn-lt"/>
                <a:cs typeface="+mn-lt"/>
              </a:rPr>
              <a:t>LocationInput.Text</a:t>
            </a:r>
            <a:r>
              <a:rPr lang="en-US" sz="1100" dirty="0">
                <a:ea typeface="+mn-lt"/>
                <a:cs typeface="+mn-lt"/>
              </a:rPr>
              <a:t>)),</a:t>
            </a:r>
            <a:endParaRPr lang="en-US" dirty="0"/>
          </a:p>
          <a:p>
            <a:r>
              <a:rPr lang="en-US" sz="1100" dirty="0">
                <a:ea typeface="+mn-lt"/>
                <a:cs typeface="+mn-lt"/>
              </a:rPr>
              <a:t>    </a:t>
            </a:r>
            <a:r>
              <a:rPr lang="en-US" sz="1100" dirty="0" err="1">
                <a:ea typeface="+mn-lt"/>
                <a:cs typeface="+mn-lt"/>
              </a:rPr>
              <a:t>ClearCollect</a:t>
            </a:r>
            <a:r>
              <a:rPr lang="en-US" sz="1100" dirty="0">
                <a:ea typeface="+mn-lt"/>
                <a:cs typeface="+mn-lt"/>
              </a:rPr>
              <a:t>(</a:t>
            </a:r>
            <a:r>
              <a:rPr lang="en-US" sz="1100" dirty="0" err="1">
                <a:ea typeface="+mn-lt"/>
                <a:cs typeface="+mn-lt"/>
              </a:rPr>
              <a:t>colNews</a:t>
            </a:r>
            <a:r>
              <a:rPr lang="en-US" sz="1100" dirty="0">
                <a:ea typeface="+mn-lt"/>
                <a:cs typeface="+mn-lt"/>
              </a:rPr>
              <a:t>, </a:t>
            </a:r>
            <a:r>
              <a:rPr lang="en-US" sz="1100" dirty="0" err="1">
                <a:ea typeface="+mn-lt"/>
                <a:cs typeface="+mn-lt"/>
              </a:rPr>
              <a:t>NewsConnector.TopHeadlines</a:t>
            </a:r>
            <a:r>
              <a:rPr lang="en-US" sz="1100" dirty="0">
                <a:ea typeface="+mn-lt"/>
                <a:cs typeface="+mn-lt"/>
              </a:rPr>
              <a:t>("manufacturing")),</a:t>
            </a:r>
            <a:endParaRPr lang="en-US" dirty="0"/>
          </a:p>
          <a:p>
            <a:r>
              <a:rPr lang="en-US" sz="1100" dirty="0">
                <a:ea typeface="+mn-lt"/>
                <a:cs typeface="+mn-lt"/>
              </a:rPr>
              <a:t>    </a:t>
            </a:r>
            <a:r>
              <a:rPr lang="en-US" sz="1100" dirty="0" err="1">
                <a:ea typeface="+mn-lt"/>
                <a:cs typeface="+mn-lt"/>
              </a:rPr>
              <a:t>ClearCollect</a:t>
            </a:r>
            <a:r>
              <a:rPr lang="en-US" sz="1100" dirty="0">
                <a:ea typeface="+mn-lt"/>
                <a:cs typeface="+mn-lt"/>
              </a:rPr>
              <a:t>(</a:t>
            </a:r>
            <a:r>
              <a:rPr lang="en-US" sz="1100" dirty="0" err="1">
                <a:ea typeface="+mn-lt"/>
                <a:cs typeface="+mn-lt"/>
              </a:rPr>
              <a:t>colAlerts</a:t>
            </a:r>
            <a:r>
              <a:rPr lang="en-US" sz="1100" dirty="0">
                <a:ea typeface="+mn-lt"/>
                <a:cs typeface="+mn-lt"/>
              </a:rPr>
              <a:t>, </a:t>
            </a:r>
            <a:r>
              <a:rPr lang="en-US" sz="1100" dirty="0" err="1">
                <a:ea typeface="+mn-lt"/>
                <a:cs typeface="+mn-lt"/>
              </a:rPr>
              <a:t>AlertsConnector.GetAlerts</a:t>
            </a:r>
            <a:r>
              <a:rPr lang="en-US" sz="1100" dirty="0">
                <a:ea typeface="+mn-lt"/>
                <a:cs typeface="+mn-lt"/>
              </a:rPr>
              <a:t>(User().Email))</a:t>
            </a:r>
            <a:endParaRPr lang="en-US" dirty="0"/>
          </a:p>
          <a:p>
            <a:r>
              <a:rPr lang="en-US" sz="1100">
                <a:ea typeface="+mn-lt"/>
                <a:cs typeface="+mn-lt"/>
              </a:rPr>
              <a:t>);</a:t>
            </a:r>
            <a:endParaRPr lang="en-US"/>
          </a:p>
          <a:p>
            <a:r>
              <a:rPr lang="en-US" sz="1100">
                <a:ea typeface="+mn-lt"/>
                <a:cs typeface="+mn-lt"/>
              </a:rPr>
              <a:t>)</a:t>
            </a:r>
            <a:endParaRPr lang="en-US">
              <a:ea typeface="Calibri"/>
              <a:cs typeface="Calibri"/>
            </a:endParaRPr>
          </a:p>
          <a:p>
            <a:endParaRPr lang="en-US" sz="1100" dirty="0">
              <a:latin typeface="Segoe UI"/>
              <a:ea typeface="Calibri"/>
              <a:cs typeface="Segoe UI"/>
            </a:endParaRPr>
          </a:p>
          <a:p>
            <a:endParaRPr lang="en-US" dirty="0">
              <a:ea typeface="Calibri"/>
              <a:cs typeface="Calibri"/>
            </a:endParaRPr>
          </a:p>
        </p:txBody>
      </p:sp>
    </p:spTree>
    <p:extLst>
      <p:ext uri="{BB962C8B-B14F-4D97-AF65-F5344CB8AC3E}">
        <p14:creationId xmlns:p14="http://schemas.microsoft.com/office/powerpoint/2010/main" val="30995351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Connecting Data Sources</a:t>
            </a:r>
          </a:p>
        </p:txBody>
      </p:sp>
      <p:sp>
        <p:nvSpPr>
          <p:cNvPr id="3" name="Content Placeholder 2"/>
          <p:cNvSpPr>
            <a:spLocks noGrp="1"/>
          </p:cNvSpPr>
          <p:nvPr>
            <p:ph idx="1"/>
          </p:nvPr>
        </p:nvSpPr>
        <p:spPr/>
        <p:txBody>
          <a:bodyPr/>
          <a:lstStyle/>
          <a:p>
            <a:r>
              <a:t>SharePoint for lists, Dataverse for structured tables, SQL for enterprise data. Examples: Connecting Power Apps to SharePoint list for CRUD.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Hands-On Exercises</a:t>
            </a:r>
          </a:p>
        </p:txBody>
      </p:sp>
      <p:sp>
        <p:nvSpPr>
          <p:cNvPr id="3" name="Content Placeholder 2"/>
          <p:cNvSpPr>
            <a:spLocks noGrp="1"/>
          </p:cNvSpPr>
          <p:nvPr>
            <p:ph idx="1"/>
          </p:nvPr>
        </p:nvSpPr>
        <p:spPr/>
        <p:txBody>
          <a:bodyPr/>
          <a:lstStyle/>
          <a:p>
            <a:r>
              <a:t>1. Build Canvas &amp; Model-driven app.</a:t>
            </a:r>
          </a:p>
          <a:p>
            <a:r>
              <a:t>2. CRUD operations with SharePoint/Dataverse.</a:t>
            </a:r>
          </a:p>
          <a:p>
            <a:r>
              <a:t>3. Add validations using Power Fx.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27</Slides>
  <Notes>0</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Introduction to Microsoft Power Platform</vt:lpstr>
      <vt:lpstr>Components Overview</vt:lpstr>
      <vt:lpstr>Power Apps Types</vt:lpstr>
      <vt:lpstr>No code Vs Low code Vs Vibe Vs Pro</vt:lpstr>
      <vt:lpstr>PowerPoint Presentation</vt:lpstr>
      <vt:lpstr>Power Automate </vt:lpstr>
      <vt:lpstr>Power BI </vt:lpstr>
      <vt:lpstr>Power Pages </vt:lpstr>
      <vt:lpstr>Dataverse </vt:lpstr>
      <vt:lpstr>Use Cases &amp; Examples</vt:lpstr>
      <vt:lpstr>Licensing Overview</vt:lpstr>
      <vt:lpstr>Environments</vt:lpstr>
      <vt:lpstr>Solution-based Development</vt:lpstr>
      <vt:lpstr>PowerApps Collections</vt:lpstr>
      <vt:lpstr>PowerApps Collection Advantages</vt:lpstr>
      <vt:lpstr>Collect Vs ClearCollect Vs Clear</vt:lpstr>
      <vt:lpstr>Types of PowerApps Variables</vt:lpstr>
      <vt:lpstr>Importance of Variables in Power Apps</vt:lpstr>
      <vt:lpstr>Power Apps Standards: Variable Types </vt:lpstr>
      <vt:lpstr>Power Fx Formulas</vt:lpstr>
      <vt:lpstr>Global Variables</vt:lpstr>
      <vt:lpstr>Context(Local) Variable</vt:lpstr>
      <vt:lpstr>Navigate function</vt:lpstr>
      <vt:lpstr>PowerPoint Presentation</vt:lpstr>
      <vt:lpstr>Concurrent function</vt:lpstr>
      <vt:lpstr>Connecting Data Sources</vt:lpstr>
      <vt:lpstr>Hands-On Exercises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revision>222</cp:revision>
  <dcterms:created xsi:type="dcterms:W3CDTF">2013-01-27T09:14:16Z</dcterms:created>
  <dcterms:modified xsi:type="dcterms:W3CDTF">2026-04-16T06:03:13Z</dcterms:modified>
  <cp:category/>
</cp:coreProperties>
</file>